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60" r:id="rId5"/>
    <p:sldId id="259" r:id="rId6"/>
    <p:sldId id="280" r:id="rId7"/>
    <p:sldId id="261" r:id="rId8"/>
    <p:sldId id="262" r:id="rId9"/>
    <p:sldId id="265" r:id="rId10"/>
    <p:sldId id="267" r:id="rId11"/>
    <p:sldId id="264" r:id="rId12"/>
    <p:sldId id="266" r:id="rId13"/>
    <p:sldId id="263" r:id="rId14"/>
    <p:sldId id="269" r:id="rId15"/>
    <p:sldId id="268" r:id="rId16"/>
    <p:sldId id="270" r:id="rId17"/>
    <p:sldId id="271" r:id="rId18"/>
    <p:sldId id="275" r:id="rId19"/>
    <p:sldId id="274" r:id="rId20"/>
    <p:sldId id="276" r:id="rId21"/>
    <p:sldId id="277" r:id="rId22"/>
    <p:sldId id="278" r:id="rId23"/>
    <p:sldId id="279"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114"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6370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BDF5F-7539-D4E5-C025-3D5AFF9BF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9B2A7D-B9A6-DDCE-1D25-9AC80357FC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526960-66D4-60D6-B5B0-560218F9D5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FB579E-3745-B121-3671-1FBB732CD32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5172412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188720"/>
            <a:ext cx="3840480" cy="3840480"/>
          </a:xfrm>
          <a:prstGeom prst="ellipse">
            <a:avLst/>
          </a:prstGeom>
          <a:solidFill>
            <a:srgbClr val="141A45"/>
          </a:solidFill>
          <a:ln/>
        </p:spPr>
        <p:txBody>
          <a:bodyPr/>
          <a:lstStyle/>
          <a:p>
            <a:endParaRPr lang="en-US"/>
          </a:p>
        </p:txBody>
      </p:sp>
      <p:sp>
        <p:nvSpPr>
          <p:cNvPr id="3" name="Shape 1"/>
          <p:cNvSpPr/>
          <p:nvPr/>
        </p:nvSpPr>
        <p:spPr>
          <a:xfrm>
            <a:off x="-1463040" y="4846320"/>
            <a:ext cx="3291840" cy="3291840"/>
          </a:xfrm>
          <a:prstGeom prst="ellipse">
            <a:avLst/>
          </a:prstGeom>
          <a:solidFill>
            <a:srgbClr val="141A45"/>
          </a:solidFill>
          <a:ln/>
        </p:spPr>
        <p:txBody>
          <a:bodyPr/>
          <a:lstStyle/>
          <a:p>
            <a:endParaRPr lang="en-US"/>
          </a:p>
        </p:txBody>
      </p:sp>
      <p:sp>
        <p:nvSpPr>
          <p:cNvPr id="4" name="Text 2"/>
          <p:cNvSpPr/>
          <p:nvPr/>
        </p:nvSpPr>
        <p:spPr>
          <a:xfrm>
            <a:off x="822960" y="1965960"/>
            <a:ext cx="10515600" cy="365760"/>
          </a:xfrm>
          <a:prstGeom prst="rect">
            <a:avLst/>
          </a:prstGeom>
          <a:noFill/>
          <a:ln/>
        </p:spPr>
        <p:txBody>
          <a:bodyPr wrap="square" rtlCol="0" anchor="ctr"/>
          <a:lstStyle/>
          <a:p>
            <a:pPr marL="0" indent="0">
              <a:buNone/>
            </a:pPr>
            <a:r>
              <a:rPr lang="en-US" sz="1400" b="1" kern="0" spc="200" dirty="0">
                <a:solidFill>
                  <a:srgbClr val="D97706"/>
                </a:solidFill>
                <a:latin typeface="Calibri" pitchFamily="34" charset="0"/>
                <a:ea typeface="Calibri" pitchFamily="34" charset="-122"/>
                <a:cs typeface="Calibri" pitchFamily="34" charset="-120"/>
              </a:rPr>
              <a:t>MANUAL IMAGE REVIEW  •  PLATE REVIEW TRAINING</a:t>
            </a:r>
            <a:endParaRPr lang="en-US" sz="1400" dirty="0"/>
          </a:p>
        </p:txBody>
      </p:sp>
      <p:sp>
        <p:nvSpPr>
          <p:cNvPr id="5" name="Text 3"/>
          <p:cNvSpPr/>
          <p:nvPr/>
        </p:nvSpPr>
        <p:spPr>
          <a:xfrm>
            <a:off x="822960" y="2331720"/>
            <a:ext cx="10515600" cy="1188720"/>
          </a:xfrm>
          <a:prstGeom prst="rect">
            <a:avLst/>
          </a:prstGeom>
          <a:noFill/>
          <a:ln/>
        </p:spPr>
        <p:txBody>
          <a:bodyPr wrap="square"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Vanity Plates</a:t>
            </a:r>
            <a:endParaRPr lang="en-US" sz="4800" dirty="0"/>
          </a:p>
        </p:txBody>
      </p:sp>
      <p:sp>
        <p:nvSpPr>
          <p:cNvPr id="6" name="Text 4"/>
          <p:cNvSpPr/>
          <p:nvPr/>
        </p:nvSpPr>
        <p:spPr>
          <a:xfrm>
            <a:off x="822960" y="3429000"/>
            <a:ext cx="9144000" cy="548640"/>
          </a:xfrm>
          <a:prstGeom prst="rect">
            <a:avLst/>
          </a:prstGeom>
          <a:noFill/>
          <a:ln/>
        </p:spPr>
        <p:txBody>
          <a:bodyPr wrap="square" rtlCol="0" anchor="ctr"/>
          <a:lstStyle/>
          <a:p>
            <a:pPr marL="0" indent="0">
              <a:buNone/>
            </a:pPr>
            <a:r>
              <a:rPr lang="en-US" sz="1800" dirty="0">
                <a:solidFill>
                  <a:srgbClr val="CADCFC"/>
                </a:solidFill>
                <a:latin typeface="Calibri" pitchFamily="34" charset="0"/>
                <a:ea typeface="Calibri" pitchFamily="34" charset="-122"/>
                <a:cs typeface="Calibri" pitchFamily="34" charset="-120"/>
              </a:rPr>
              <a:t>Identifying ambiguous characters on vanity and specialty plates</a:t>
            </a:r>
            <a:endParaRPr lang="en-US" sz="1800" dirty="0"/>
          </a:p>
        </p:txBody>
      </p:sp>
      <p:sp>
        <p:nvSpPr>
          <p:cNvPr id="11" name="Text 9"/>
          <p:cNvSpPr/>
          <p:nvPr/>
        </p:nvSpPr>
        <p:spPr>
          <a:xfrm>
            <a:off x="78154" y="5983458"/>
            <a:ext cx="5760720" cy="822960"/>
          </a:xfrm>
          <a:prstGeom prst="rect">
            <a:avLst/>
          </a:prstGeom>
          <a:noFill/>
          <a:ln/>
        </p:spPr>
        <p:txBody>
          <a:bodyPr wrap="square" rtlCol="0" anchor="t"/>
          <a:lstStyle/>
          <a:p>
            <a:pPr marL="0" indent="0">
              <a:buNone/>
            </a:pPr>
            <a:r>
              <a:rPr lang="en-US" sz="1200" i="1" dirty="0">
                <a:solidFill>
                  <a:srgbClr val="8A93A3"/>
                </a:solidFill>
                <a:latin typeface="Calibri" pitchFamily="34" charset="0"/>
                <a:ea typeface="Calibri" pitchFamily="34" charset="-122"/>
                <a:cs typeface="Calibri" pitchFamily="34" charset="-120"/>
              </a:rPr>
              <a:t>September 03, 2026</a:t>
            </a:r>
          </a:p>
          <a:p>
            <a:pPr marL="0" indent="0">
              <a:buNone/>
            </a:pPr>
            <a:endParaRPr lang="en-US" sz="1200" i="1" dirty="0">
              <a:solidFill>
                <a:srgbClr val="8A93A3"/>
              </a:solidFill>
              <a:latin typeface="Calibri" pitchFamily="34" charset="0"/>
              <a:ea typeface="Calibri" pitchFamily="34" charset="-122"/>
              <a:cs typeface="Calibri" pitchFamily="34" charset="-120"/>
            </a:endParaRPr>
          </a:p>
          <a:p>
            <a:pPr marL="0" indent="0">
              <a:buNone/>
            </a:pPr>
            <a:endParaRPr lang="en-US" sz="1200" i="1" dirty="0">
              <a:solidFill>
                <a:srgbClr val="8A93A3"/>
              </a:solidFill>
              <a:latin typeface="Calibri" pitchFamily="34" charset="0"/>
              <a:ea typeface="Calibri" pitchFamily="34" charset="-122"/>
              <a:cs typeface="Calibri" pitchFamily="34" charset="-120"/>
            </a:endParaRPr>
          </a:p>
          <a:p>
            <a:pPr marL="0" indent="0">
              <a:buNone/>
            </a:pPr>
            <a:r>
              <a:rPr lang="en-US" sz="1200" i="1" dirty="0">
                <a:solidFill>
                  <a:srgbClr val="8A93A3"/>
                </a:solidFill>
                <a:latin typeface="Calibri" pitchFamily="34" charset="0"/>
                <a:ea typeface="Calibri" pitchFamily="34" charset="-122"/>
                <a:cs typeface="Calibri" pitchFamily="34" charset="-120"/>
              </a:rPr>
              <a:t>SWC Group Property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E2761"/>
          </a:solidFill>
          <a:ln/>
        </p:spPr>
        <p:txBody>
          <a:bodyPr/>
          <a:lstStyle/>
          <a:p>
            <a:endParaRPr lang="en-US"/>
          </a:p>
        </p:txBody>
      </p:sp>
      <p:sp>
        <p:nvSpPr>
          <p:cNvPr id="3" name="Text 1"/>
          <p:cNvSpPr/>
          <p:nvPr/>
        </p:nvSpPr>
        <p:spPr>
          <a:xfrm>
            <a:off x="1051560" y="320040"/>
            <a:ext cx="7315200" cy="274320"/>
          </a:xfrm>
          <a:prstGeom prst="rect">
            <a:avLst/>
          </a:prstGeom>
          <a:noFill/>
          <a:ln/>
        </p:spPr>
        <p:txBody>
          <a:bodyPr wrap="square" rtlCol="0" anchor="ctr"/>
          <a:lstStyle/>
          <a:p>
            <a:pPr marL="0" indent="0">
              <a:buNone/>
            </a:pPr>
            <a:r>
              <a:rPr lang="en-US" sz="1200" b="1" kern="0" spc="150" dirty="0">
                <a:solidFill>
                  <a:srgbClr val="1E2761"/>
                </a:solidFill>
                <a:latin typeface="Calibri" pitchFamily="34" charset="0"/>
                <a:ea typeface="Calibri" pitchFamily="34" charset="-122"/>
                <a:cs typeface="Calibri" pitchFamily="34" charset="-120"/>
              </a:rPr>
              <a:t>INTRODUCTION</a:t>
            </a:r>
            <a:endParaRPr lang="en-US" sz="1200" dirty="0"/>
          </a:p>
        </p:txBody>
      </p:sp>
      <p:sp>
        <p:nvSpPr>
          <p:cNvPr id="4" name="Text 2"/>
          <p:cNvSpPr/>
          <p:nvPr/>
        </p:nvSpPr>
        <p:spPr>
          <a:xfrm>
            <a:off x="1051560" y="566928"/>
            <a:ext cx="10241280" cy="548640"/>
          </a:xfrm>
          <a:prstGeom prst="rect">
            <a:avLst/>
          </a:prstGeom>
          <a:noFill/>
          <a:ln/>
        </p:spPr>
        <p:txBody>
          <a:bodyPr wrap="square" rtlCol="0" anchor="ctr"/>
          <a:lstStyle/>
          <a:p>
            <a:pPr marL="0" indent="0">
              <a:buNone/>
            </a:pPr>
            <a:r>
              <a:rPr lang="en-US" sz="2800" b="1" dirty="0">
                <a:solidFill>
                  <a:srgbClr val="141A45"/>
                </a:solidFill>
                <a:latin typeface="Cambria" pitchFamily="34" charset="0"/>
                <a:ea typeface="Cambria" pitchFamily="34" charset="-122"/>
                <a:cs typeface="Cambria" pitchFamily="34" charset="-120"/>
              </a:rPr>
              <a:t>Why This Distinction Matters</a:t>
            </a:r>
            <a:endParaRPr lang="en-US" sz="2800" dirty="0"/>
          </a:p>
        </p:txBody>
      </p:sp>
      <p:sp>
        <p:nvSpPr>
          <p:cNvPr id="5" name="Shape 3"/>
          <p:cNvSpPr/>
          <p:nvPr/>
        </p:nvSpPr>
        <p:spPr>
          <a:xfrm>
            <a:off x="457200" y="1371600"/>
            <a:ext cx="6949440" cy="4846320"/>
          </a:xfrm>
          <a:prstGeom prst="rect">
            <a:avLst/>
          </a:prstGeom>
          <a:solidFill>
            <a:srgbClr val="EAF1FE"/>
          </a:solidFill>
          <a:ln/>
        </p:spPr>
        <p:txBody>
          <a:bodyPr/>
          <a:lstStyle/>
          <a:p>
            <a:endParaRPr lang="en-US"/>
          </a:p>
        </p:txBody>
      </p:sp>
      <p:sp>
        <p:nvSpPr>
          <p:cNvPr id="7" name="Shape 5"/>
          <p:cNvSpPr/>
          <p:nvPr/>
        </p:nvSpPr>
        <p:spPr>
          <a:xfrm>
            <a:off x="731520" y="1920240"/>
            <a:ext cx="6400800" cy="4114800"/>
          </a:xfrm>
          <a:prstGeom prst="rect">
            <a:avLst/>
          </a:prstGeom>
          <a:solidFill>
            <a:srgbClr val="FFFFFF"/>
          </a:solidFill>
          <a:ln w="12700">
            <a:solidFill>
              <a:srgbClr val="8A93A3"/>
            </a:solidFill>
            <a:prstDash val="dash"/>
          </a:ln>
        </p:spPr>
        <p:txBody>
          <a:bodyPr/>
          <a:lstStyle/>
          <a:p>
            <a:endParaRPr lang="en-US"/>
          </a:p>
        </p:txBody>
      </p:sp>
      <p:sp>
        <p:nvSpPr>
          <p:cNvPr id="8" name="Text 6"/>
          <p:cNvSpPr/>
          <p:nvPr/>
        </p:nvSpPr>
        <p:spPr>
          <a:xfrm>
            <a:off x="868680" y="2011680"/>
            <a:ext cx="6126480" cy="3931920"/>
          </a:xfrm>
          <a:prstGeom prst="rect">
            <a:avLst/>
          </a:prstGeom>
          <a:noFill/>
          <a:ln/>
        </p:spPr>
        <p:txBody>
          <a:bodyPr wrap="square" rtlCol="0" anchor="t"/>
          <a:lstStyle/>
          <a:p>
            <a:r>
              <a:rPr lang="en-US" sz="1200" b="1" dirty="0"/>
              <a:t>Why misreading O vs 0 causes errors</a:t>
            </a:r>
          </a:p>
          <a:p>
            <a:endParaRPr lang="en-US" sz="1200" dirty="0"/>
          </a:p>
          <a:p>
            <a:r>
              <a:rPr lang="en-US" sz="1200" dirty="0"/>
              <a:t>The core problem is that O and 0 are visually near-identical in a lot of plate fonts, especially in the state of Texas — same round shape, same stroke weight — so the eye has almost nothing to go on besides subtle width and shape cues for many plates.</a:t>
            </a:r>
          </a:p>
          <a:p>
            <a:endParaRPr lang="en-US" sz="1200" dirty="0"/>
          </a:p>
          <a:p>
            <a:r>
              <a:rPr lang="en-US" sz="1200" b="1" dirty="0"/>
              <a:t>How it affects downstream matching/billing</a:t>
            </a:r>
          </a:p>
          <a:p>
            <a:endParaRPr lang="en-US" sz="1200" b="1" dirty="0"/>
          </a:p>
          <a:p>
            <a:r>
              <a:rPr lang="en-US" sz="1200" dirty="0"/>
              <a:t>Registration data only has value if it matches the DMV/registration database </a:t>
            </a:r>
            <a:r>
              <a:rPr lang="en-US" sz="1200" u="sng" dirty="0"/>
              <a:t>exactly</a:t>
            </a:r>
            <a:r>
              <a:rPr lang="en-US" sz="1200" dirty="0"/>
              <a:t> — toll billing is a character-for-character lookup. If a plate gets submitted incorrectly , the system will either:</a:t>
            </a:r>
          </a:p>
          <a:p>
            <a:pPr marL="228600" lvl="0" indent="-228600">
              <a:buAutoNum type="arabicPeriod"/>
            </a:pPr>
            <a:r>
              <a:rPr lang="en-US" sz="1200" dirty="0"/>
              <a:t>Fail to find a match at all, kicking the transaction into a reconciliation/exception queue and delaying/prevent billing, or</a:t>
            </a:r>
          </a:p>
          <a:p>
            <a:pPr marL="228600" lvl="0" indent="-228600">
              <a:buAutoNum type="arabicPeriod"/>
            </a:pPr>
            <a:r>
              <a:rPr lang="en-US" sz="1200" dirty="0"/>
              <a:t>Much worse, matches to a </a:t>
            </a:r>
            <a:r>
              <a:rPr lang="en-US" sz="1200" i="1" dirty="0"/>
              <a:t>different</a:t>
            </a:r>
            <a:r>
              <a:rPr lang="en-US" sz="1200" dirty="0"/>
              <a:t> real, valid plate combination, which means the wrong vehicle owner gets billed and the actual toll-taker doesn’t.</a:t>
            </a:r>
          </a:p>
          <a:p>
            <a:pPr marL="228600" lvl="0" indent="-228600">
              <a:buAutoNum type="arabicPeriod"/>
            </a:pPr>
            <a:r>
              <a:rPr lang="en-US" sz="1200" dirty="0"/>
              <a:t>Another major issue is with Texas Vanity plates with a letter O or number 0 in it. If this plate gets entered incorrect and the O and 0 are swapped, the Toll-Tag will not be charged but the DMV will still bill them, which causes major escalations and complaints.</a:t>
            </a:r>
          </a:p>
          <a:p>
            <a:endParaRPr lang="en-US" sz="1200" dirty="0"/>
          </a:p>
          <a:p>
            <a:r>
              <a:rPr lang="en-US" sz="1200" dirty="0"/>
              <a:t>Any of one these outcomes create downstream cleanup work — reconciliation, disputes, chargebacks — that's disproportionate to what looks like a one-character slip at review time.</a:t>
            </a:r>
          </a:p>
        </p:txBody>
      </p:sp>
      <p:sp>
        <p:nvSpPr>
          <p:cNvPr id="9" name="Shape 7"/>
          <p:cNvSpPr/>
          <p:nvPr/>
        </p:nvSpPr>
        <p:spPr>
          <a:xfrm>
            <a:off x="7680960" y="1371600"/>
            <a:ext cx="4023360" cy="2286000"/>
          </a:xfrm>
          <a:prstGeom prst="roundRect">
            <a:avLst>
              <a:gd name="adj" fmla="val 3200"/>
            </a:avLst>
          </a:prstGeom>
          <a:solidFill>
            <a:srgbClr val="1E2761"/>
          </a:solidFill>
          <a:ln/>
        </p:spPr>
        <p:txBody>
          <a:bodyPr/>
          <a:lstStyle/>
          <a:p>
            <a:endParaRPr lang="en-US"/>
          </a:p>
        </p:txBody>
      </p:sp>
      <p:sp>
        <p:nvSpPr>
          <p:cNvPr id="10" name="Text 8"/>
          <p:cNvSpPr/>
          <p:nvPr/>
        </p:nvSpPr>
        <p:spPr>
          <a:xfrm>
            <a:off x="7680960" y="1554480"/>
            <a:ext cx="4023360" cy="822960"/>
          </a:xfrm>
          <a:prstGeom prst="rect">
            <a:avLst/>
          </a:prstGeom>
          <a:noFill/>
          <a:ln/>
        </p:spPr>
        <p:txBody>
          <a:bodyPr wrap="square" rtlCol="0" anchor="ctr"/>
          <a:lstStyle/>
          <a:p>
            <a:pPr marL="0" indent="0" algn="ctr">
              <a:buNone/>
            </a:pPr>
            <a:r>
              <a:rPr lang="en-US" sz="4000" b="1" dirty="0">
                <a:solidFill>
                  <a:srgbClr val="CADCFC"/>
                </a:solidFill>
                <a:latin typeface="Cambria" pitchFamily="34" charset="0"/>
                <a:ea typeface="Cambria" pitchFamily="34" charset="-122"/>
                <a:cs typeface="Cambria" pitchFamily="34" charset="-120"/>
              </a:rPr>
              <a:t>O</a:t>
            </a:r>
            <a:endParaRPr lang="en-US" sz="4000" dirty="0"/>
          </a:p>
        </p:txBody>
      </p:sp>
      <p:sp>
        <p:nvSpPr>
          <p:cNvPr id="11" name="Text 9"/>
          <p:cNvSpPr/>
          <p:nvPr/>
        </p:nvSpPr>
        <p:spPr>
          <a:xfrm>
            <a:off x="7680960" y="2377440"/>
            <a:ext cx="4023360" cy="36576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Letter</a:t>
            </a:r>
            <a:endParaRPr lang="en-US" sz="1300" dirty="0"/>
          </a:p>
        </p:txBody>
      </p:sp>
      <p:sp>
        <p:nvSpPr>
          <p:cNvPr id="12" name="Text 10"/>
          <p:cNvSpPr/>
          <p:nvPr/>
        </p:nvSpPr>
        <p:spPr>
          <a:xfrm>
            <a:off x="7909560" y="2743200"/>
            <a:ext cx="3566160" cy="82296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Never appears in standard-issue plate numbers on states like Texas — but can appear on vanity plates in any states</a:t>
            </a:r>
            <a:endParaRPr lang="en-US" sz="1050" dirty="0"/>
          </a:p>
        </p:txBody>
      </p:sp>
      <p:sp>
        <p:nvSpPr>
          <p:cNvPr id="13" name="Shape 11"/>
          <p:cNvSpPr/>
          <p:nvPr/>
        </p:nvSpPr>
        <p:spPr>
          <a:xfrm>
            <a:off x="7680960" y="3931920"/>
            <a:ext cx="4023360" cy="2286000"/>
          </a:xfrm>
          <a:prstGeom prst="roundRect">
            <a:avLst>
              <a:gd name="adj" fmla="val 3200"/>
            </a:avLst>
          </a:prstGeom>
          <a:solidFill>
            <a:srgbClr val="D97706"/>
          </a:solidFill>
          <a:ln/>
        </p:spPr>
        <p:txBody>
          <a:bodyPr/>
          <a:lstStyle/>
          <a:p>
            <a:endParaRPr lang="en-US"/>
          </a:p>
        </p:txBody>
      </p:sp>
      <p:sp>
        <p:nvSpPr>
          <p:cNvPr id="14" name="Text 12"/>
          <p:cNvSpPr/>
          <p:nvPr/>
        </p:nvSpPr>
        <p:spPr>
          <a:xfrm>
            <a:off x="7680960" y="4114800"/>
            <a:ext cx="4023360" cy="822960"/>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0 </a:t>
            </a:r>
            <a:r>
              <a:rPr lang="en-US" sz="2000" b="1" dirty="0">
                <a:solidFill>
                  <a:srgbClr val="FFFFFF"/>
                </a:solidFill>
                <a:latin typeface="Cambria" pitchFamily="34" charset="0"/>
                <a:ea typeface="Cambria" pitchFamily="34" charset="-122"/>
                <a:cs typeface="Cambria" pitchFamily="34" charset="-120"/>
              </a:rPr>
              <a:t>or</a:t>
            </a:r>
            <a:r>
              <a:rPr lang="en-US" sz="4000" b="1" dirty="0">
                <a:solidFill>
                  <a:srgbClr val="FFFFFF"/>
                </a:solidFill>
                <a:latin typeface="Cambria" pitchFamily="34" charset="0"/>
                <a:ea typeface="Cambria" pitchFamily="34" charset="-122"/>
                <a:cs typeface="Cambria" pitchFamily="34" charset="-120"/>
              </a:rPr>
              <a:t> 0</a:t>
            </a:r>
            <a:endParaRPr lang="en-US" sz="4000" dirty="0"/>
          </a:p>
        </p:txBody>
      </p:sp>
      <p:sp>
        <p:nvSpPr>
          <p:cNvPr id="15" name="Shape 13"/>
          <p:cNvSpPr/>
          <p:nvPr/>
        </p:nvSpPr>
        <p:spPr>
          <a:xfrm>
            <a:off x="9237785" y="4421124"/>
            <a:ext cx="125046" cy="210312"/>
          </a:xfrm>
          <a:prstGeom prst="line">
            <a:avLst/>
          </a:prstGeom>
          <a:noFill/>
          <a:ln w="38100">
            <a:solidFill>
              <a:srgbClr val="FFFFFF"/>
            </a:solidFill>
            <a:prstDash val="solid"/>
          </a:ln>
        </p:spPr>
        <p:txBody>
          <a:bodyPr/>
          <a:lstStyle/>
          <a:p>
            <a:endParaRPr lang="en-US"/>
          </a:p>
        </p:txBody>
      </p:sp>
      <p:sp>
        <p:nvSpPr>
          <p:cNvPr id="16" name="Text 14"/>
          <p:cNvSpPr/>
          <p:nvPr/>
        </p:nvSpPr>
        <p:spPr>
          <a:xfrm>
            <a:off x="7680960" y="4937760"/>
            <a:ext cx="4023360" cy="36576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Digit</a:t>
            </a:r>
            <a:endParaRPr lang="en-US" sz="1300" dirty="0"/>
          </a:p>
        </p:txBody>
      </p:sp>
      <p:sp>
        <p:nvSpPr>
          <p:cNvPr id="17" name="Text 15"/>
          <p:cNvSpPr/>
          <p:nvPr/>
        </p:nvSpPr>
        <p:spPr>
          <a:xfrm>
            <a:off x="7909560" y="5303520"/>
            <a:ext cx="3566160" cy="822960"/>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Standard on registration numbers across every state we review</a:t>
            </a:r>
            <a:endParaRPr lang="en-US" sz="1050" dirty="0"/>
          </a:p>
        </p:txBody>
      </p:sp>
      <p:sp>
        <p:nvSpPr>
          <p:cNvPr id="18" name="Text 16"/>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A93A3"/>
                </a:solidFill>
                <a:latin typeface="Calibri" pitchFamily="34" charset="0"/>
                <a:ea typeface="Calibri" pitchFamily="34" charset="-122"/>
                <a:cs typeface="Calibri" pitchFamily="34" charset="-120"/>
              </a:rPr>
              <a:t>Vanity Plates Training</a:t>
            </a:r>
            <a:endParaRPr lang="en-US" sz="1000" dirty="0"/>
          </a:p>
        </p:txBody>
      </p:sp>
      <p:sp>
        <p:nvSpPr>
          <p:cNvPr id="19" name="Text 17"/>
          <p:cNvSpPr/>
          <p:nvPr/>
        </p:nvSpPr>
        <p:spPr>
          <a:xfrm>
            <a:off x="11277295" y="6537960"/>
            <a:ext cx="457200" cy="274320"/>
          </a:xfrm>
          <a:prstGeom prst="rect">
            <a:avLst/>
          </a:prstGeom>
          <a:noFill/>
          <a:ln/>
        </p:spPr>
        <p:txBody>
          <a:bodyPr wrap="square" rtlCol="0" anchor="ctr"/>
          <a:lstStyle/>
          <a:p>
            <a:pPr marL="0" indent="0" algn="r">
              <a:buNone/>
            </a:pPr>
            <a:r>
              <a:rPr lang="en-US" sz="1000" dirty="0">
                <a:solidFill>
                  <a:srgbClr val="8A93A3"/>
                </a:solidFill>
                <a:latin typeface="Calibri" pitchFamily="34" charset="0"/>
                <a:ea typeface="Calibri" pitchFamily="34" charset="-122"/>
                <a:cs typeface="Calibri" pitchFamily="34" charset="-120"/>
              </a:rPr>
              <a:t>2</a:t>
            </a:r>
            <a:endParaRPr lang="en-US" sz="1000" dirty="0"/>
          </a:p>
        </p:txBody>
      </p:sp>
      <p:sp>
        <p:nvSpPr>
          <p:cNvPr id="21" name="TextBox 20">
            <a:extLst>
              <a:ext uri="{FF2B5EF4-FFF2-40B4-BE49-F238E27FC236}">
                <a16:creationId xmlns:a16="http://schemas.microsoft.com/office/drawing/2014/main" id="{DF470B7D-D146-41A2-2CCD-7A3E7EBD89B4}"/>
              </a:ext>
            </a:extLst>
          </p:cNvPr>
          <p:cNvSpPr txBox="1"/>
          <p:nvPr/>
        </p:nvSpPr>
        <p:spPr>
          <a:xfrm>
            <a:off x="6619631" y="279799"/>
            <a:ext cx="6096000" cy="1107996"/>
          </a:xfrm>
          <a:prstGeom prst="rect">
            <a:avLst/>
          </a:prstGeom>
          <a:noFill/>
        </p:spPr>
        <p:txBody>
          <a:bodyPr wrap="square">
            <a:spAutoFit/>
          </a:bodyPr>
          <a:lstStyle/>
          <a:p>
            <a:pPr algn="ctr"/>
            <a:r>
              <a:rPr lang="en-US" sz="6600" b="1" dirty="0">
                <a:solidFill>
                  <a:srgbClr val="D97706"/>
                </a:solidFill>
                <a:latin typeface="Cambria" pitchFamily="34" charset="0"/>
                <a:ea typeface="Cambria" pitchFamily="34" charset="-122"/>
                <a:cs typeface="Cambria" pitchFamily="34" charset="-120"/>
              </a:rPr>
              <a:t>O </a:t>
            </a:r>
            <a:r>
              <a:rPr lang="en-US" sz="2800" b="1" dirty="0">
                <a:solidFill>
                  <a:srgbClr val="002060"/>
                </a:solidFill>
                <a:latin typeface="Cambria" pitchFamily="34" charset="0"/>
                <a:ea typeface="Cambria" pitchFamily="34" charset="-122"/>
                <a:cs typeface="Cambria" pitchFamily="34" charset="-120"/>
              </a:rPr>
              <a:t>vs</a:t>
            </a:r>
            <a:r>
              <a:rPr lang="en-US" sz="6600" b="1" dirty="0">
                <a:solidFill>
                  <a:srgbClr val="D97706"/>
                </a:solidFill>
                <a:latin typeface="Cambria" pitchFamily="34" charset="0"/>
                <a:ea typeface="Cambria" pitchFamily="34" charset="-122"/>
                <a:cs typeface="Cambria" pitchFamily="34" charset="-120"/>
              </a:rPr>
              <a:t> 0 </a:t>
            </a:r>
            <a:r>
              <a:rPr lang="en-US" sz="2800" b="1" dirty="0">
                <a:solidFill>
                  <a:srgbClr val="002060"/>
                </a:solidFill>
                <a:latin typeface="Cambria" pitchFamily="34" charset="0"/>
                <a:ea typeface="Cambria" pitchFamily="34" charset="-122"/>
                <a:cs typeface="Cambria" pitchFamily="34" charset="-120"/>
              </a:rPr>
              <a:t>and</a:t>
            </a:r>
            <a:r>
              <a:rPr lang="en-US" sz="6600" b="1" dirty="0">
                <a:solidFill>
                  <a:srgbClr val="D97706"/>
                </a:solidFill>
                <a:latin typeface="Cambria" pitchFamily="34" charset="0"/>
                <a:ea typeface="Cambria" pitchFamily="34" charset="-122"/>
                <a:cs typeface="Cambria" pitchFamily="34" charset="-120"/>
              </a:rPr>
              <a:t> 0</a:t>
            </a:r>
            <a:endParaRPr lang="en-US" sz="6600" dirty="0"/>
          </a:p>
        </p:txBody>
      </p:sp>
      <p:sp>
        <p:nvSpPr>
          <p:cNvPr id="23" name="Shape 7">
            <a:extLst>
              <a:ext uri="{FF2B5EF4-FFF2-40B4-BE49-F238E27FC236}">
                <a16:creationId xmlns:a16="http://schemas.microsoft.com/office/drawing/2014/main" id="{949643C0-8DB7-EE4C-C03B-B655EC54654A}"/>
              </a:ext>
            </a:extLst>
          </p:cNvPr>
          <p:cNvSpPr/>
          <p:nvPr/>
        </p:nvSpPr>
        <p:spPr>
          <a:xfrm>
            <a:off x="10940131" y="670691"/>
            <a:ext cx="244934" cy="342118"/>
          </a:xfrm>
          <a:prstGeom prst="line">
            <a:avLst/>
          </a:prstGeom>
          <a:noFill/>
          <a:ln w="50800">
            <a:solidFill>
              <a:srgbClr val="D97706"/>
            </a:solidFill>
            <a:prstDash val="solid"/>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15" name="Shape 5">
            <a:extLst>
              <a:ext uri="{FF2B5EF4-FFF2-40B4-BE49-F238E27FC236}">
                <a16:creationId xmlns:a16="http://schemas.microsoft.com/office/drawing/2014/main" id="{ECD27C00-74B4-02C6-F377-440C1D9D7000}"/>
              </a:ext>
            </a:extLst>
          </p:cNvPr>
          <p:cNvSpPr/>
          <p:nvPr/>
        </p:nvSpPr>
        <p:spPr>
          <a:xfrm>
            <a:off x="1090635" y="1079536"/>
            <a:ext cx="8128305" cy="5732743"/>
          </a:xfrm>
          <a:prstGeom prst="rect">
            <a:avLst/>
          </a:prstGeom>
          <a:solidFill>
            <a:srgbClr val="FFFFFF"/>
          </a:solidFill>
          <a:ln w="12700">
            <a:solidFill>
              <a:srgbClr val="8A93A3"/>
            </a:solidFill>
            <a:prstDash val="dash"/>
          </a:ln>
        </p:spPr>
        <p:txBody>
          <a:bodyPr/>
          <a:lstStyle/>
          <a:p>
            <a:endParaRPr lang="en-US"/>
          </a:p>
        </p:txBody>
      </p:sp>
      <p:sp>
        <p:nvSpPr>
          <p:cNvPr id="2" name="Shape 0"/>
          <p:cNvSpPr/>
          <p:nvPr/>
        </p:nvSpPr>
        <p:spPr>
          <a:xfrm>
            <a:off x="457200" y="384048"/>
            <a:ext cx="457200" cy="457200"/>
          </a:xfrm>
          <a:prstGeom prst="ellipse">
            <a:avLst/>
          </a:prstGeom>
          <a:solidFill>
            <a:srgbClr val="1E2761"/>
          </a:solidFill>
          <a:ln/>
        </p:spPr>
        <p:txBody>
          <a:bodyPr/>
          <a:lstStyle/>
          <a:p>
            <a:endParaRPr lang="en-US"/>
          </a:p>
        </p:txBody>
      </p:sp>
      <p:sp>
        <p:nvSpPr>
          <p:cNvPr id="3" name="Text 1"/>
          <p:cNvSpPr/>
          <p:nvPr/>
        </p:nvSpPr>
        <p:spPr>
          <a:xfrm>
            <a:off x="1051560" y="320040"/>
            <a:ext cx="7315200" cy="274320"/>
          </a:xfrm>
          <a:prstGeom prst="rect">
            <a:avLst/>
          </a:prstGeom>
          <a:noFill/>
          <a:ln/>
        </p:spPr>
        <p:txBody>
          <a:bodyPr wrap="square" rtlCol="0" anchor="ctr"/>
          <a:lstStyle/>
          <a:p>
            <a:pPr marL="0" indent="0">
              <a:buNone/>
            </a:pPr>
            <a:r>
              <a:rPr lang="en-US" sz="1200" b="1" kern="0" spc="150" dirty="0">
                <a:solidFill>
                  <a:srgbClr val="1E2761"/>
                </a:solidFill>
                <a:latin typeface="Calibri" pitchFamily="34" charset="0"/>
                <a:ea typeface="Calibri" pitchFamily="34" charset="-122"/>
                <a:cs typeface="Calibri" pitchFamily="34" charset="-120"/>
              </a:rPr>
              <a:t>THE FUNDAMENTALS</a:t>
            </a:r>
            <a:endParaRPr lang="en-US" sz="1200" dirty="0"/>
          </a:p>
        </p:txBody>
      </p:sp>
      <p:sp>
        <p:nvSpPr>
          <p:cNvPr id="4" name="Text 2"/>
          <p:cNvSpPr/>
          <p:nvPr/>
        </p:nvSpPr>
        <p:spPr>
          <a:xfrm>
            <a:off x="1051560" y="566928"/>
            <a:ext cx="10241280" cy="548640"/>
          </a:xfrm>
          <a:prstGeom prst="rect">
            <a:avLst/>
          </a:prstGeom>
          <a:noFill/>
          <a:ln/>
        </p:spPr>
        <p:txBody>
          <a:bodyPr wrap="square" rtlCol="0" anchor="ctr"/>
          <a:lstStyle/>
          <a:p>
            <a:pPr marL="0" indent="0">
              <a:buNone/>
            </a:pPr>
            <a:r>
              <a:rPr lang="en-US" sz="2800" b="1" dirty="0">
                <a:solidFill>
                  <a:srgbClr val="141A45"/>
                </a:solidFill>
                <a:latin typeface="Cambria" pitchFamily="34" charset="0"/>
                <a:ea typeface="Cambria" pitchFamily="34" charset="-122"/>
                <a:cs typeface="Cambria" pitchFamily="34" charset="-120"/>
              </a:rPr>
              <a:t>Shape Is Your First Clue</a:t>
            </a:r>
            <a:endParaRPr lang="en-US" sz="2800" dirty="0"/>
          </a:p>
        </p:txBody>
      </p:sp>
      <p:pic>
        <p:nvPicPr>
          <p:cNvPr id="5" name="Image 0" descr="/home/claude/vanity_deck/images/1788356085425_image.png"/>
          <p:cNvPicPr>
            <a:picLocks noChangeAspect="1"/>
          </p:cNvPicPr>
          <p:nvPr/>
        </p:nvPicPr>
        <p:blipFill>
          <a:blip r:embed="rId3"/>
          <a:stretch>
            <a:fillRect/>
          </a:stretch>
        </p:blipFill>
        <p:spPr>
          <a:xfrm>
            <a:off x="2376723" y="1115568"/>
            <a:ext cx="5251635" cy="2854673"/>
          </a:xfrm>
          <a:prstGeom prst="rect">
            <a:avLst/>
          </a:prstGeom>
        </p:spPr>
      </p:pic>
      <p:sp>
        <p:nvSpPr>
          <p:cNvPr id="8" name="Text 5"/>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A93A3"/>
                </a:solidFill>
                <a:latin typeface="Calibri" pitchFamily="34" charset="0"/>
                <a:ea typeface="Calibri" pitchFamily="34" charset="-122"/>
                <a:cs typeface="Calibri" pitchFamily="34" charset="-120"/>
              </a:rPr>
              <a:t>Vanity Plates Training</a:t>
            </a:r>
            <a:endParaRPr lang="en-US" sz="1000" dirty="0"/>
          </a:p>
        </p:txBody>
      </p:sp>
      <p:sp>
        <p:nvSpPr>
          <p:cNvPr id="9" name="Text 6"/>
          <p:cNvSpPr/>
          <p:nvPr/>
        </p:nvSpPr>
        <p:spPr>
          <a:xfrm>
            <a:off x="11277295" y="6537960"/>
            <a:ext cx="457200" cy="274320"/>
          </a:xfrm>
          <a:prstGeom prst="rect">
            <a:avLst/>
          </a:prstGeom>
          <a:noFill/>
          <a:ln/>
        </p:spPr>
        <p:txBody>
          <a:bodyPr wrap="square" rtlCol="0" anchor="ctr"/>
          <a:lstStyle/>
          <a:p>
            <a:pPr marL="0" indent="0" algn="r">
              <a:buNone/>
            </a:pPr>
            <a:r>
              <a:rPr lang="en-US" sz="1000" dirty="0">
                <a:solidFill>
                  <a:srgbClr val="8A93A3"/>
                </a:solidFill>
                <a:latin typeface="Calibri" pitchFamily="34" charset="0"/>
                <a:ea typeface="Calibri" pitchFamily="34" charset="-122"/>
                <a:cs typeface="Calibri" pitchFamily="34" charset="-120"/>
              </a:rPr>
              <a:t>3</a:t>
            </a:r>
            <a:endParaRPr lang="en-US" sz="1000" dirty="0"/>
          </a:p>
        </p:txBody>
      </p:sp>
      <p:pic>
        <p:nvPicPr>
          <p:cNvPr id="13" name="Picture 12">
            <a:extLst>
              <a:ext uri="{FF2B5EF4-FFF2-40B4-BE49-F238E27FC236}">
                <a16:creationId xmlns:a16="http://schemas.microsoft.com/office/drawing/2014/main" id="{A578DB10-CE72-07BB-B920-F803D5908277}"/>
              </a:ext>
            </a:extLst>
          </p:cNvPr>
          <p:cNvPicPr>
            <a:picLocks noChangeAspect="1"/>
          </p:cNvPicPr>
          <p:nvPr/>
        </p:nvPicPr>
        <p:blipFill>
          <a:blip r:embed="rId4"/>
          <a:stretch>
            <a:fillRect/>
          </a:stretch>
        </p:blipFill>
        <p:spPr>
          <a:xfrm>
            <a:off x="1745478" y="4067122"/>
            <a:ext cx="6818618" cy="2745158"/>
          </a:xfrm>
          <a:prstGeom prst="rect">
            <a:avLst/>
          </a:prstGeom>
        </p:spPr>
      </p:pic>
      <p:sp>
        <p:nvSpPr>
          <p:cNvPr id="17" name="Shape 3">
            <a:extLst>
              <a:ext uri="{FF2B5EF4-FFF2-40B4-BE49-F238E27FC236}">
                <a16:creationId xmlns:a16="http://schemas.microsoft.com/office/drawing/2014/main" id="{83A470E6-D5DD-2B46-7CFD-6C35CFC3A4D3}"/>
              </a:ext>
            </a:extLst>
          </p:cNvPr>
          <p:cNvSpPr/>
          <p:nvPr/>
        </p:nvSpPr>
        <p:spPr>
          <a:xfrm>
            <a:off x="9368377" y="1079536"/>
            <a:ext cx="2719754" cy="2695215"/>
          </a:xfrm>
          <a:prstGeom prst="rect">
            <a:avLst/>
          </a:prstGeom>
          <a:solidFill>
            <a:srgbClr val="FFFFFF"/>
          </a:solidFill>
          <a:ln w="12700">
            <a:solidFill>
              <a:srgbClr val="8A93A3"/>
            </a:solidFill>
            <a:prstDash val="dash"/>
          </a:ln>
        </p:spPr>
        <p:txBody>
          <a:bodyPr/>
          <a:lstStyle/>
          <a:p>
            <a:r>
              <a:rPr lang="en-US" b="1" dirty="0"/>
              <a:t>Keep in mind: </a:t>
            </a:r>
          </a:p>
          <a:p>
            <a:endParaRPr lang="en-US" dirty="0"/>
          </a:p>
          <a:p>
            <a:r>
              <a:rPr lang="en-US" dirty="0"/>
              <a:t>Each state has their own way of differentiating between the letter and the number. It is important we pause and pay attention anytime either one of these characters appear.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E2761"/>
          </a:solidFill>
          <a:ln/>
        </p:spPr>
        <p:txBody>
          <a:bodyPr/>
          <a:lstStyle/>
          <a:p>
            <a:endParaRPr lang="en-US"/>
          </a:p>
        </p:txBody>
      </p:sp>
      <p:sp>
        <p:nvSpPr>
          <p:cNvPr id="3" name="Text 1"/>
          <p:cNvSpPr/>
          <p:nvPr/>
        </p:nvSpPr>
        <p:spPr>
          <a:xfrm>
            <a:off x="1051560" y="320040"/>
            <a:ext cx="7315200" cy="274320"/>
          </a:xfrm>
          <a:prstGeom prst="rect">
            <a:avLst/>
          </a:prstGeom>
          <a:noFill/>
          <a:ln/>
        </p:spPr>
        <p:txBody>
          <a:bodyPr wrap="square" rtlCol="0" anchor="ctr"/>
          <a:lstStyle/>
          <a:p>
            <a:pPr marL="0" indent="0">
              <a:buNone/>
            </a:pPr>
            <a:r>
              <a:rPr lang="en-US" sz="1200" b="1" kern="0" spc="150" dirty="0">
                <a:solidFill>
                  <a:srgbClr val="1E2761"/>
                </a:solidFill>
                <a:latin typeface="Calibri" pitchFamily="34" charset="0"/>
                <a:ea typeface="Calibri" pitchFamily="34" charset="-122"/>
                <a:cs typeface="Calibri" pitchFamily="34" charset="-120"/>
              </a:rPr>
              <a:t>REFERENCE</a:t>
            </a:r>
            <a:endParaRPr lang="en-US" sz="1200" dirty="0"/>
          </a:p>
        </p:txBody>
      </p:sp>
      <p:sp>
        <p:nvSpPr>
          <p:cNvPr id="4" name="Text 2"/>
          <p:cNvSpPr/>
          <p:nvPr/>
        </p:nvSpPr>
        <p:spPr>
          <a:xfrm>
            <a:off x="1051560" y="566928"/>
            <a:ext cx="10241280" cy="548640"/>
          </a:xfrm>
          <a:prstGeom prst="rect">
            <a:avLst/>
          </a:prstGeom>
          <a:noFill/>
          <a:ln/>
        </p:spPr>
        <p:txBody>
          <a:bodyPr wrap="square" rtlCol="0" anchor="ctr"/>
          <a:lstStyle/>
          <a:p>
            <a:pPr marL="0" indent="0">
              <a:buNone/>
            </a:pPr>
            <a:r>
              <a:rPr lang="en-US" sz="2800" b="1" dirty="0">
                <a:solidFill>
                  <a:srgbClr val="141A45"/>
                </a:solidFill>
                <a:latin typeface="Cambria" pitchFamily="34" charset="0"/>
                <a:ea typeface="Cambria" pitchFamily="34" charset="-122"/>
                <a:cs typeface="Cambria" pitchFamily="34" charset="-120"/>
              </a:rPr>
              <a:t>Common State Font Clues</a:t>
            </a:r>
            <a:endParaRPr lang="en-US" sz="2800" dirty="0"/>
          </a:p>
        </p:txBody>
      </p:sp>
      <p:pic>
        <p:nvPicPr>
          <p:cNvPr id="5" name="Image 0" descr="/home/claude/vanity_deck/images/1788356070392_image.png"/>
          <p:cNvPicPr>
            <a:picLocks noChangeAspect="1"/>
          </p:cNvPicPr>
          <p:nvPr/>
        </p:nvPicPr>
        <p:blipFill>
          <a:blip r:embed="rId3"/>
          <a:stretch>
            <a:fillRect/>
          </a:stretch>
        </p:blipFill>
        <p:spPr>
          <a:xfrm>
            <a:off x="816854" y="1673352"/>
            <a:ext cx="9796293" cy="3749040"/>
          </a:xfrm>
          <a:prstGeom prst="rect">
            <a:avLst/>
          </a:prstGeom>
        </p:spPr>
      </p:pic>
      <p:sp>
        <p:nvSpPr>
          <p:cNvPr id="8" name="Text 5"/>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A93A3"/>
                </a:solidFill>
                <a:latin typeface="Calibri" pitchFamily="34" charset="0"/>
                <a:ea typeface="Calibri" pitchFamily="34" charset="-122"/>
                <a:cs typeface="Calibri" pitchFamily="34" charset="-120"/>
              </a:rPr>
              <a:t>Vanity Plates Training</a:t>
            </a:r>
            <a:endParaRPr lang="en-US" sz="1000" dirty="0"/>
          </a:p>
        </p:txBody>
      </p:sp>
      <p:sp>
        <p:nvSpPr>
          <p:cNvPr id="9" name="Text 6"/>
          <p:cNvSpPr/>
          <p:nvPr/>
        </p:nvSpPr>
        <p:spPr>
          <a:xfrm>
            <a:off x="11277295" y="6537960"/>
            <a:ext cx="457200" cy="274320"/>
          </a:xfrm>
          <a:prstGeom prst="rect">
            <a:avLst/>
          </a:prstGeom>
          <a:noFill/>
          <a:ln/>
        </p:spPr>
        <p:txBody>
          <a:bodyPr wrap="square" rtlCol="0" anchor="ctr"/>
          <a:lstStyle/>
          <a:p>
            <a:pPr marL="0" indent="0" algn="r">
              <a:buNone/>
            </a:pPr>
            <a:r>
              <a:rPr lang="en-US" sz="1000" dirty="0">
                <a:solidFill>
                  <a:srgbClr val="8A93A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E2761"/>
          </a:solidFill>
          <a:ln/>
        </p:spPr>
        <p:txBody>
          <a:bodyPr/>
          <a:lstStyle/>
          <a:p>
            <a:endParaRPr lang="en-US"/>
          </a:p>
        </p:txBody>
      </p:sp>
      <p:sp>
        <p:nvSpPr>
          <p:cNvPr id="3" name="Text 1"/>
          <p:cNvSpPr/>
          <p:nvPr/>
        </p:nvSpPr>
        <p:spPr>
          <a:xfrm>
            <a:off x="1051560" y="320040"/>
            <a:ext cx="7315200" cy="274320"/>
          </a:xfrm>
          <a:prstGeom prst="rect">
            <a:avLst/>
          </a:prstGeom>
          <a:noFill/>
          <a:ln/>
        </p:spPr>
        <p:txBody>
          <a:bodyPr wrap="square" rtlCol="0" anchor="ctr"/>
          <a:lstStyle/>
          <a:p>
            <a:pPr marL="0" indent="0">
              <a:buNone/>
            </a:pPr>
            <a:r>
              <a:rPr lang="en-US" sz="1200" b="1" kern="0" spc="150" dirty="0">
                <a:solidFill>
                  <a:srgbClr val="1E2761"/>
                </a:solidFill>
                <a:latin typeface="Calibri" pitchFamily="34" charset="0"/>
                <a:ea typeface="Calibri" pitchFamily="34" charset="-122"/>
                <a:cs typeface="Calibri" pitchFamily="34" charset="-120"/>
              </a:rPr>
              <a:t>THE FUNDAMENTALS</a:t>
            </a:r>
            <a:endParaRPr lang="en-US" sz="1200" dirty="0"/>
          </a:p>
        </p:txBody>
      </p:sp>
      <p:sp>
        <p:nvSpPr>
          <p:cNvPr id="4" name="Text 2"/>
          <p:cNvSpPr/>
          <p:nvPr/>
        </p:nvSpPr>
        <p:spPr>
          <a:xfrm>
            <a:off x="1051560" y="566928"/>
            <a:ext cx="10241280" cy="548640"/>
          </a:xfrm>
          <a:prstGeom prst="rect">
            <a:avLst/>
          </a:prstGeom>
          <a:noFill/>
          <a:ln/>
        </p:spPr>
        <p:txBody>
          <a:bodyPr wrap="square" rtlCol="0" anchor="ctr"/>
          <a:lstStyle/>
          <a:p>
            <a:r>
              <a:rPr lang="en-US" sz="2800" b="1" dirty="0">
                <a:solidFill>
                  <a:srgbClr val="141A45"/>
                </a:solidFill>
                <a:latin typeface="Cambria" pitchFamily="34" charset="0"/>
                <a:ea typeface="Cambria" pitchFamily="34" charset="-122"/>
                <a:cs typeface="Cambria" pitchFamily="34" charset="-120"/>
              </a:rPr>
              <a:t>Texas Vanity Plates: When Shape Alone Isn't Enough</a:t>
            </a:r>
            <a:endParaRPr lang="en-US" sz="2800" dirty="0"/>
          </a:p>
        </p:txBody>
      </p:sp>
      <p:sp>
        <p:nvSpPr>
          <p:cNvPr id="7" name="Text 4"/>
          <p:cNvSpPr/>
          <p:nvPr/>
        </p:nvSpPr>
        <p:spPr>
          <a:xfrm>
            <a:off x="848165" y="6219796"/>
            <a:ext cx="10495670" cy="274320"/>
          </a:xfrm>
          <a:prstGeom prst="rect">
            <a:avLst/>
          </a:prstGeom>
          <a:noFill/>
          <a:ln/>
        </p:spPr>
        <p:txBody>
          <a:bodyPr wrap="square" rtlCol="0" anchor="t"/>
          <a:lstStyle/>
          <a:p>
            <a:r>
              <a:rPr lang="en-US" sz="1200" b="1" dirty="0"/>
              <a:t>Keep in mind: </a:t>
            </a:r>
            <a:r>
              <a:rPr lang="en-US" sz="1200" dirty="0"/>
              <a:t>Even though the State Of Texas does not issue plates with the letter O in the registration, drivers can still obtain custom plates with the letter O in them.</a:t>
            </a:r>
          </a:p>
        </p:txBody>
      </p:sp>
      <p:sp>
        <p:nvSpPr>
          <p:cNvPr id="8" name="Text 5"/>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A93A3"/>
                </a:solidFill>
                <a:latin typeface="Calibri" pitchFamily="34" charset="0"/>
                <a:ea typeface="Calibri" pitchFamily="34" charset="-122"/>
                <a:cs typeface="Calibri" pitchFamily="34" charset="-120"/>
              </a:rPr>
              <a:t>Vanity Plates Training</a:t>
            </a:r>
            <a:endParaRPr lang="en-US" sz="1000" dirty="0"/>
          </a:p>
        </p:txBody>
      </p:sp>
      <p:sp>
        <p:nvSpPr>
          <p:cNvPr id="9" name="Text 6"/>
          <p:cNvSpPr/>
          <p:nvPr/>
        </p:nvSpPr>
        <p:spPr>
          <a:xfrm>
            <a:off x="11277295" y="6537960"/>
            <a:ext cx="457200" cy="274320"/>
          </a:xfrm>
          <a:prstGeom prst="rect">
            <a:avLst/>
          </a:prstGeom>
          <a:noFill/>
          <a:ln/>
        </p:spPr>
        <p:txBody>
          <a:bodyPr wrap="square" rtlCol="0" anchor="ctr"/>
          <a:lstStyle/>
          <a:p>
            <a:pPr marL="0" indent="0" algn="r">
              <a:buNone/>
            </a:pPr>
            <a:r>
              <a:rPr lang="en-US" sz="1000" dirty="0">
                <a:solidFill>
                  <a:srgbClr val="8A93A3"/>
                </a:solidFill>
                <a:latin typeface="Calibri" pitchFamily="34" charset="0"/>
                <a:ea typeface="Calibri" pitchFamily="34" charset="-122"/>
                <a:cs typeface="Calibri" pitchFamily="34" charset="-120"/>
              </a:rPr>
              <a:t>4</a:t>
            </a:r>
            <a:endParaRPr lang="en-US" sz="1000" dirty="0"/>
          </a:p>
        </p:txBody>
      </p:sp>
      <p:sp>
        <p:nvSpPr>
          <p:cNvPr id="11" name="Shape 3">
            <a:extLst>
              <a:ext uri="{FF2B5EF4-FFF2-40B4-BE49-F238E27FC236}">
                <a16:creationId xmlns:a16="http://schemas.microsoft.com/office/drawing/2014/main" id="{A3472D12-7DD3-2B20-8847-681D689FAE19}"/>
              </a:ext>
            </a:extLst>
          </p:cNvPr>
          <p:cNvSpPr/>
          <p:nvPr/>
        </p:nvSpPr>
        <p:spPr>
          <a:xfrm>
            <a:off x="848165" y="1362456"/>
            <a:ext cx="10495670" cy="4791456"/>
          </a:xfrm>
          <a:prstGeom prst="rect">
            <a:avLst/>
          </a:prstGeom>
          <a:solidFill>
            <a:srgbClr val="FFFFFF"/>
          </a:solidFill>
          <a:ln w="12700">
            <a:solidFill>
              <a:srgbClr val="8A93A3"/>
            </a:solidFill>
            <a:prstDash val="dash"/>
          </a:ln>
        </p:spPr>
        <p:txBody>
          <a:bodyPr/>
          <a:lstStyle/>
          <a:p>
            <a:r>
              <a:rPr lang="en-US" dirty="0"/>
              <a:t>Texas Vanity plates can have the letter O and the number 0 in them. We must use </a:t>
            </a:r>
            <a:r>
              <a:rPr lang="en-US" b="1" u="sng" dirty="0"/>
              <a:t>context clues</a:t>
            </a:r>
            <a:r>
              <a:rPr lang="en-US" dirty="0"/>
              <a:t> to help Identify which to enter considering Texas Vanity plates can be more challenging to determine the character than other states. Not all these clues will apply in every scenario so be practical and consider the most likely entry.</a:t>
            </a:r>
          </a:p>
          <a:p>
            <a:endParaRPr lang="en-US" dirty="0"/>
          </a:p>
          <a:p>
            <a:endParaRPr lang="en-US" dirty="0"/>
          </a:p>
          <a:p>
            <a:endParaRPr lang="en-US" dirty="0"/>
          </a:p>
          <a:p>
            <a:pPr marL="285750" indent="-285750">
              <a:buFont typeface="Wingdings" panose="05000000000000000000" pitchFamily="2" charset="2"/>
              <a:buChar char="v"/>
            </a:pPr>
            <a:r>
              <a:rPr lang="en-US" dirty="0"/>
              <a:t>If it’s a custom/vanity plate, best rule of thumb is to lean towards it being a Letter O, especially if there are no numbers in the registration.</a:t>
            </a:r>
          </a:p>
          <a:p>
            <a:pPr marL="285750" indent="-285750">
              <a:buFont typeface="Wingdings" panose="05000000000000000000" pitchFamily="2" charset="2"/>
              <a:buChar char="v"/>
            </a:pPr>
            <a:r>
              <a:rPr lang="en-US" dirty="0"/>
              <a:t>Use context clues to determine if the letter O or the number 0 should be used. </a:t>
            </a:r>
            <a:r>
              <a:rPr lang="en-US" b="1" dirty="0"/>
              <a:t>Example: </a:t>
            </a:r>
            <a:r>
              <a:rPr lang="en-US" dirty="0"/>
              <a:t>Registration is ‘JACK01’. Since the 0 character is next to a 1, it would be best judgment to use the number Zero.</a:t>
            </a:r>
          </a:p>
          <a:p>
            <a:pPr marL="285750" indent="-285750">
              <a:buFont typeface="Wingdings" panose="05000000000000000000" pitchFamily="2" charset="2"/>
              <a:buChar char="v"/>
            </a:pPr>
            <a:r>
              <a:rPr lang="en-US" dirty="0"/>
              <a:t>Plates that you can read as a word like ‘TEX-M4DE’ is a custom plate. The driver wanted the plate to read as “Texas Made”, which indicates this being a custom plate.</a:t>
            </a:r>
          </a:p>
          <a:p>
            <a:endParaRPr lang="en-US" dirty="0"/>
          </a:p>
          <a:p>
            <a:pPr marL="285750" indent="-285750">
              <a:buFont typeface="Wingdings" panose="05000000000000000000" pitchFamily="2" charset="2"/>
              <a:buChar char="v"/>
            </a:pPr>
            <a:r>
              <a:rPr lang="en-US" dirty="0"/>
              <a:t>The state of Texas usually issues plates with </a:t>
            </a:r>
            <a:r>
              <a:rPr lang="en-US" b="1" dirty="0"/>
              <a:t>6-7 characters.</a:t>
            </a:r>
            <a:r>
              <a:rPr lang="en-US" dirty="0"/>
              <a:t> The USUAL standard layout follows a format of </a:t>
            </a:r>
            <a:r>
              <a:rPr lang="en-US" b="1" dirty="0"/>
              <a:t>two letters, one number, one letter, and three numbers</a:t>
            </a:r>
            <a:r>
              <a:rPr lang="en-US" dirty="0"/>
              <a:t> (e.g., </a:t>
            </a:r>
            <a:r>
              <a:rPr lang="en-US" b="1" dirty="0"/>
              <a:t>AB1-C123</a:t>
            </a:r>
            <a:r>
              <a:rPr lang="en-US" dirty="0"/>
              <a:t>). If the plate in question is outside these criteria’s, then this COULD indicate it is a special kind of plate, including vanity plates that can use O’s and 0’s.</a:t>
            </a:r>
          </a:p>
          <a:p>
            <a:pPr marL="285750" indent="-285750">
              <a:buFont typeface="Wingdings" panose="05000000000000000000" pitchFamily="2" charset="2"/>
              <a:buChar char="v"/>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C62ED46-8DC4-470F-01C5-954B74E5211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5DEE87B-3A77-96D7-E118-A646ADD6B01A}"/>
              </a:ext>
            </a:extLst>
          </p:cNvPr>
          <p:cNvSpPr/>
          <p:nvPr/>
        </p:nvSpPr>
        <p:spPr>
          <a:xfrm>
            <a:off x="457200" y="384048"/>
            <a:ext cx="457200" cy="457200"/>
          </a:xfrm>
          <a:prstGeom prst="ellipse">
            <a:avLst/>
          </a:prstGeom>
          <a:solidFill>
            <a:srgbClr val="1E2761"/>
          </a:solidFill>
          <a:ln/>
        </p:spPr>
        <p:txBody>
          <a:bodyPr/>
          <a:lstStyle/>
          <a:p>
            <a:endParaRPr lang="en-US"/>
          </a:p>
        </p:txBody>
      </p:sp>
      <p:sp>
        <p:nvSpPr>
          <p:cNvPr id="3" name="Text 1">
            <a:extLst>
              <a:ext uri="{FF2B5EF4-FFF2-40B4-BE49-F238E27FC236}">
                <a16:creationId xmlns:a16="http://schemas.microsoft.com/office/drawing/2014/main" id="{FB05C07B-29BF-883A-0DA6-021B68D6D33C}"/>
              </a:ext>
            </a:extLst>
          </p:cNvPr>
          <p:cNvSpPr/>
          <p:nvPr/>
        </p:nvSpPr>
        <p:spPr>
          <a:xfrm>
            <a:off x="1051560" y="320040"/>
            <a:ext cx="7315200" cy="274320"/>
          </a:xfrm>
          <a:prstGeom prst="rect">
            <a:avLst/>
          </a:prstGeom>
          <a:noFill/>
          <a:ln/>
        </p:spPr>
        <p:txBody>
          <a:bodyPr wrap="square" rtlCol="0" anchor="ctr"/>
          <a:lstStyle/>
          <a:p>
            <a:pPr marL="0" indent="0">
              <a:buNone/>
            </a:pPr>
            <a:r>
              <a:rPr lang="en-US" sz="1200" b="1" kern="0" spc="150" dirty="0">
                <a:solidFill>
                  <a:srgbClr val="1E2761"/>
                </a:solidFill>
                <a:latin typeface="Calibri" pitchFamily="34" charset="0"/>
                <a:ea typeface="Calibri" pitchFamily="34" charset="-122"/>
                <a:cs typeface="Calibri" pitchFamily="34" charset="-120"/>
              </a:rPr>
              <a:t>THE FUNDAMENTALS</a:t>
            </a:r>
            <a:endParaRPr lang="en-US" sz="1200" dirty="0"/>
          </a:p>
        </p:txBody>
      </p:sp>
      <p:sp>
        <p:nvSpPr>
          <p:cNvPr id="4" name="Text 2">
            <a:extLst>
              <a:ext uri="{FF2B5EF4-FFF2-40B4-BE49-F238E27FC236}">
                <a16:creationId xmlns:a16="http://schemas.microsoft.com/office/drawing/2014/main" id="{30FCB2F4-5476-C17A-26DB-D66BB30F2A6C}"/>
              </a:ext>
            </a:extLst>
          </p:cNvPr>
          <p:cNvSpPr/>
          <p:nvPr/>
        </p:nvSpPr>
        <p:spPr>
          <a:xfrm>
            <a:off x="1051560" y="566928"/>
            <a:ext cx="10241280" cy="548640"/>
          </a:xfrm>
          <a:prstGeom prst="rect">
            <a:avLst/>
          </a:prstGeom>
          <a:noFill/>
          <a:ln/>
        </p:spPr>
        <p:txBody>
          <a:bodyPr wrap="square" rtlCol="0" anchor="ctr"/>
          <a:lstStyle/>
          <a:p>
            <a:r>
              <a:rPr lang="en-US" sz="2800" b="1" dirty="0">
                <a:solidFill>
                  <a:srgbClr val="141A45"/>
                </a:solidFill>
                <a:latin typeface="Cambria" pitchFamily="34" charset="0"/>
                <a:ea typeface="Cambria" pitchFamily="34" charset="-122"/>
                <a:cs typeface="Cambria" pitchFamily="34" charset="-120"/>
              </a:rPr>
              <a:t>Texas DV Vanity Plates</a:t>
            </a:r>
            <a:endParaRPr lang="en-US" sz="2800" dirty="0"/>
          </a:p>
        </p:txBody>
      </p:sp>
      <p:sp>
        <p:nvSpPr>
          <p:cNvPr id="7" name="Text 4">
            <a:extLst>
              <a:ext uri="{FF2B5EF4-FFF2-40B4-BE49-F238E27FC236}">
                <a16:creationId xmlns:a16="http://schemas.microsoft.com/office/drawing/2014/main" id="{4F6611E7-E961-7AB9-4D3F-89291EE0AEF1}"/>
              </a:ext>
            </a:extLst>
          </p:cNvPr>
          <p:cNvSpPr/>
          <p:nvPr/>
        </p:nvSpPr>
        <p:spPr>
          <a:xfrm>
            <a:off x="848165" y="6219796"/>
            <a:ext cx="10495670" cy="274320"/>
          </a:xfrm>
          <a:prstGeom prst="rect">
            <a:avLst/>
          </a:prstGeom>
          <a:noFill/>
          <a:ln/>
        </p:spPr>
        <p:txBody>
          <a:bodyPr wrap="square" rtlCol="0" anchor="t"/>
          <a:lstStyle/>
          <a:p>
            <a:r>
              <a:rPr lang="en-US" sz="1200" b="1" dirty="0"/>
              <a:t>Keep in mind: </a:t>
            </a:r>
            <a:r>
              <a:rPr lang="en-US" sz="1200" dirty="0"/>
              <a:t>Even though the State Of Texas does not issue plates with the letter O in the registration, drivers can still obtain custom plates with the letter O in them.</a:t>
            </a:r>
          </a:p>
        </p:txBody>
      </p:sp>
      <p:sp>
        <p:nvSpPr>
          <p:cNvPr id="8" name="Text 5">
            <a:extLst>
              <a:ext uri="{FF2B5EF4-FFF2-40B4-BE49-F238E27FC236}">
                <a16:creationId xmlns:a16="http://schemas.microsoft.com/office/drawing/2014/main" id="{2FB2EA21-1DC0-DC3D-6BFF-2CEBE4818E4F}"/>
              </a:ext>
            </a:extLst>
          </p:cNvPr>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A93A3"/>
                </a:solidFill>
                <a:latin typeface="Calibri" pitchFamily="34" charset="0"/>
                <a:ea typeface="Calibri" pitchFamily="34" charset="-122"/>
                <a:cs typeface="Calibri" pitchFamily="34" charset="-120"/>
              </a:rPr>
              <a:t>Vanity Plates Training</a:t>
            </a:r>
            <a:endParaRPr lang="en-US" sz="1000" dirty="0"/>
          </a:p>
        </p:txBody>
      </p:sp>
      <p:sp>
        <p:nvSpPr>
          <p:cNvPr id="9" name="Text 6">
            <a:extLst>
              <a:ext uri="{FF2B5EF4-FFF2-40B4-BE49-F238E27FC236}">
                <a16:creationId xmlns:a16="http://schemas.microsoft.com/office/drawing/2014/main" id="{A8200AAF-85B8-EE11-75EB-7E1BA244D8F3}"/>
              </a:ext>
            </a:extLst>
          </p:cNvPr>
          <p:cNvSpPr/>
          <p:nvPr/>
        </p:nvSpPr>
        <p:spPr>
          <a:xfrm>
            <a:off x="11277295" y="6537960"/>
            <a:ext cx="457200" cy="274320"/>
          </a:xfrm>
          <a:prstGeom prst="rect">
            <a:avLst/>
          </a:prstGeom>
          <a:noFill/>
          <a:ln/>
        </p:spPr>
        <p:txBody>
          <a:bodyPr wrap="square" rtlCol="0" anchor="ctr"/>
          <a:lstStyle/>
          <a:p>
            <a:pPr marL="0" indent="0" algn="r">
              <a:buNone/>
            </a:pPr>
            <a:r>
              <a:rPr lang="en-US" sz="1000" dirty="0">
                <a:solidFill>
                  <a:srgbClr val="8A93A3"/>
                </a:solidFill>
                <a:latin typeface="Calibri" pitchFamily="34" charset="0"/>
                <a:ea typeface="Calibri" pitchFamily="34" charset="-122"/>
                <a:cs typeface="Calibri" pitchFamily="34" charset="-120"/>
              </a:rPr>
              <a:t>4</a:t>
            </a:r>
            <a:endParaRPr lang="en-US" sz="1000" dirty="0"/>
          </a:p>
        </p:txBody>
      </p:sp>
      <p:pic>
        <p:nvPicPr>
          <p:cNvPr id="6" name="Picture 5">
            <a:extLst>
              <a:ext uri="{FF2B5EF4-FFF2-40B4-BE49-F238E27FC236}">
                <a16:creationId xmlns:a16="http://schemas.microsoft.com/office/drawing/2014/main" id="{0EE89229-CA5B-08F3-327C-07558D4B697A}"/>
              </a:ext>
            </a:extLst>
          </p:cNvPr>
          <p:cNvPicPr>
            <a:picLocks noChangeAspect="1"/>
          </p:cNvPicPr>
          <p:nvPr/>
        </p:nvPicPr>
        <p:blipFill>
          <a:blip r:embed="rId3"/>
          <a:stretch>
            <a:fillRect/>
          </a:stretch>
        </p:blipFill>
        <p:spPr>
          <a:xfrm>
            <a:off x="246577" y="1326485"/>
            <a:ext cx="2836429" cy="1196766"/>
          </a:xfrm>
          <a:prstGeom prst="rect">
            <a:avLst/>
          </a:prstGeom>
        </p:spPr>
      </p:pic>
      <p:pic>
        <p:nvPicPr>
          <p:cNvPr id="12" name="Picture 11">
            <a:extLst>
              <a:ext uri="{FF2B5EF4-FFF2-40B4-BE49-F238E27FC236}">
                <a16:creationId xmlns:a16="http://schemas.microsoft.com/office/drawing/2014/main" id="{D190071B-70C6-FA66-BBA1-EB9A4CB7916B}"/>
              </a:ext>
            </a:extLst>
          </p:cNvPr>
          <p:cNvPicPr>
            <a:picLocks noChangeAspect="1"/>
          </p:cNvPicPr>
          <p:nvPr/>
        </p:nvPicPr>
        <p:blipFill>
          <a:blip r:embed="rId4"/>
          <a:stretch>
            <a:fillRect/>
          </a:stretch>
        </p:blipFill>
        <p:spPr>
          <a:xfrm>
            <a:off x="3203221" y="1299217"/>
            <a:ext cx="2723112" cy="1220095"/>
          </a:xfrm>
          <a:prstGeom prst="rect">
            <a:avLst/>
          </a:prstGeom>
        </p:spPr>
      </p:pic>
      <p:pic>
        <p:nvPicPr>
          <p:cNvPr id="14" name="Picture 13">
            <a:extLst>
              <a:ext uri="{FF2B5EF4-FFF2-40B4-BE49-F238E27FC236}">
                <a16:creationId xmlns:a16="http://schemas.microsoft.com/office/drawing/2014/main" id="{5E8C9519-9954-6F80-1093-B6E6E860B70F}"/>
              </a:ext>
            </a:extLst>
          </p:cNvPr>
          <p:cNvPicPr>
            <a:picLocks noChangeAspect="1"/>
          </p:cNvPicPr>
          <p:nvPr/>
        </p:nvPicPr>
        <p:blipFill>
          <a:blip r:embed="rId5"/>
          <a:stretch>
            <a:fillRect/>
          </a:stretch>
        </p:blipFill>
        <p:spPr>
          <a:xfrm>
            <a:off x="6172200" y="1299216"/>
            <a:ext cx="2813215" cy="1220096"/>
          </a:xfrm>
          <a:prstGeom prst="rect">
            <a:avLst/>
          </a:prstGeom>
        </p:spPr>
      </p:pic>
      <p:pic>
        <p:nvPicPr>
          <p:cNvPr id="16" name="Picture 15">
            <a:extLst>
              <a:ext uri="{FF2B5EF4-FFF2-40B4-BE49-F238E27FC236}">
                <a16:creationId xmlns:a16="http://schemas.microsoft.com/office/drawing/2014/main" id="{047B93E6-8763-8ACD-B37F-5979941364E3}"/>
              </a:ext>
            </a:extLst>
          </p:cNvPr>
          <p:cNvPicPr>
            <a:picLocks noChangeAspect="1"/>
          </p:cNvPicPr>
          <p:nvPr/>
        </p:nvPicPr>
        <p:blipFill>
          <a:blip r:embed="rId6"/>
          <a:stretch>
            <a:fillRect/>
          </a:stretch>
        </p:blipFill>
        <p:spPr>
          <a:xfrm>
            <a:off x="105900" y="2813532"/>
            <a:ext cx="3710922" cy="1373656"/>
          </a:xfrm>
          <a:prstGeom prst="rect">
            <a:avLst/>
          </a:prstGeom>
        </p:spPr>
      </p:pic>
      <p:pic>
        <p:nvPicPr>
          <p:cNvPr id="18" name="Picture 17">
            <a:extLst>
              <a:ext uri="{FF2B5EF4-FFF2-40B4-BE49-F238E27FC236}">
                <a16:creationId xmlns:a16="http://schemas.microsoft.com/office/drawing/2014/main" id="{667B8317-98EB-9110-E228-D8084695C08C}"/>
              </a:ext>
            </a:extLst>
          </p:cNvPr>
          <p:cNvPicPr>
            <a:picLocks noChangeAspect="1"/>
          </p:cNvPicPr>
          <p:nvPr/>
        </p:nvPicPr>
        <p:blipFill>
          <a:blip r:embed="rId7"/>
          <a:stretch>
            <a:fillRect/>
          </a:stretch>
        </p:blipFill>
        <p:spPr>
          <a:xfrm>
            <a:off x="8140769" y="2813532"/>
            <a:ext cx="3203066" cy="1333800"/>
          </a:xfrm>
          <a:prstGeom prst="rect">
            <a:avLst/>
          </a:prstGeom>
        </p:spPr>
      </p:pic>
      <p:pic>
        <p:nvPicPr>
          <p:cNvPr id="20" name="Picture 19">
            <a:extLst>
              <a:ext uri="{FF2B5EF4-FFF2-40B4-BE49-F238E27FC236}">
                <a16:creationId xmlns:a16="http://schemas.microsoft.com/office/drawing/2014/main" id="{2C51A046-2BB9-CC18-E9FB-07977BD55E1D}"/>
              </a:ext>
            </a:extLst>
          </p:cNvPr>
          <p:cNvPicPr>
            <a:picLocks noChangeAspect="1"/>
          </p:cNvPicPr>
          <p:nvPr/>
        </p:nvPicPr>
        <p:blipFill>
          <a:blip r:embed="rId8"/>
          <a:stretch>
            <a:fillRect/>
          </a:stretch>
        </p:blipFill>
        <p:spPr>
          <a:xfrm>
            <a:off x="9108996" y="1314820"/>
            <a:ext cx="2976045" cy="1220096"/>
          </a:xfrm>
          <a:prstGeom prst="rect">
            <a:avLst/>
          </a:prstGeom>
        </p:spPr>
      </p:pic>
      <p:pic>
        <p:nvPicPr>
          <p:cNvPr id="22" name="Picture 21">
            <a:extLst>
              <a:ext uri="{FF2B5EF4-FFF2-40B4-BE49-F238E27FC236}">
                <a16:creationId xmlns:a16="http://schemas.microsoft.com/office/drawing/2014/main" id="{DFD09735-9D7A-C88C-5B51-1E3F9F58F5F4}"/>
              </a:ext>
            </a:extLst>
          </p:cNvPr>
          <p:cNvPicPr>
            <a:picLocks noChangeAspect="1"/>
          </p:cNvPicPr>
          <p:nvPr/>
        </p:nvPicPr>
        <p:blipFill>
          <a:blip r:embed="rId9"/>
          <a:stretch>
            <a:fillRect/>
          </a:stretch>
        </p:blipFill>
        <p:spPr>
          <a:xfrm>
            <a:off x="4343901" y="2807165"/>
            <a:ext cx="3269788" cy="1410096"/>
          </a:xfrm>
          <a:prstGeom prst="rect">
            <a:avLst/>
          </a:prstGeom>
        </p:spPr>
      </p:pic>
      <p:pic>
        <p:nvPicPr>
          <p:cNvPr id="24" name="Picture 23">
            <a:extLst>
              <a:ext uri="{FF2B5EF4-FFF2-40B4-BE49-F238E27FC236}">
                <a16:creationId xmlns:a16="http://schemas.microsoft.com/office/drawing/2014/main" id="{D8FB15F7-AB8C-914B-5770-E18DDEF95FFD}"/>
              </a:ext>
            </a:extLst>
          </p:cNvPr>
          <p:cNvPicPr>
            <a:picLocks noChangeAspect="1"/>
          </p:cNvPicPr>
          <p:nvPr/>
        </p:nvPicPr>
        <p:blipFill>
          <a:blip r:embed="rId10"/>
          <a:stretch>
            <a:fillRect/>
          </a:stretch>
        </p:blipFill>
        <p:spPr>
          <a:xfrm>
            <a:off x="3738987" y="4338689"/>
            <a:ext cx="4109193" cy="1641444"/>
          </a:xfrm>
          <a:prstGeom prst="rect">
            <a:avLst/>
          </a:prstGeom>
        </p:spPr>
      </p:pic>
      <p:pic>
        <p:nvPicPr>
          <p:cNvPr id="26" name="Picture 25">
            <a:extLst>
              <a:ext uri="{FF2B5EF4-FFF2-40B4-BE49-F238E27FC236}">
                <a16:creationId xmlns:a16="http://schemas.microsoft.com/office/drawing/2014/main" id="{985A6B0B-CA6F-AC01-90F6-84B1494D86BF}"/>
              </a:ext>
            </a:extLst>
          </p:cNvPr>
          <p:cNvPicPr>
            <a:picLocks noChangeAspect="1"/>
          </p:cNvPicPr>
          <p:nvPr/>
        </p:nvPicPr>
        <p:blipFill>
          <a:blip r:embed="rId11"/>
          <a:stretch>
            <a:fillRect/>
          </a:stretch>
        </p:blipFill>
        <p:spPr>
          <a:xfrm>
            <a:off x="246577" y="4477469"/>
            <a:ext cx="3271718" cy="1480288"/>
          </a:xfrm>
          <a:prstGeom prst="rect">
            <a:avLst/>
          </a:prstGeom>
        </p:spPr>
      </p:pic>
      <p:pic>
        <p:nvPicPr>
          <p:cNvPr id="28" name="Picture 27">
            <a:extLst>
              <a:ext uri="{FF2B5EF4-FFF2-40B4-BE49-F238E27FC236}">
                <a16:creationId xmlns:a16="http://schemas.microsoft.com/office/drawing/2014/main" id="{6B5310D6-D82C-174A-1761-D10B1CE01040}"/>
              </a:ext>
            </a:extLst>
          </p:cNvPr>
          <p:cNvPicPr>
            <a:picLocks noChangeAspect="1"/>
          </p:cNvPicPr>
          <p:nvPr/>
        </p:nvPicPr>
        <p:blipFill>
          <a:blip r:embed="rId12"/>
          <a:stretch>
            <a:fillRect/>
          </a:stretch>
        </p:blipFill>
        <p:spPr>
          <a:xfrm>
            <a:off x="8107780" y="4386995"/>
            <a:ext cx="3626715" cy="1533160"/>
          </a:xfrm>
          <a:prstGeom prst="rect">
            <a:avLst/>
          </a:prstGeom>
        </p:spPr>
      </p:pic>
    </p:spTree>
    <p:extLst>
      <p:ext uri="{BB962C8B-B14F-4D97-AF65-F5344CB8AC3E}">
        <p14:creationId xmlns:p14="http://schemas.microsoft.com/office/powerpoint/2010/main" val="2003516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828800" y="-1828800"/>
            <a:ext cx="4572000" cy="4572000"/>
          </a:xfrm>
          <a:prstGeom prst="ellipse">
            <a:avLst/>
          </a:prstGeom>
          <a:solidFill>
            <a:srgbClr val="141A45"/>
          </a:solidFill>
          <a:ln/>
        </p:spPr>
        <p:txBody>
          <a:bodyPr/>
          <a:lstStyle/>
          <a:p>
            <a:endParaRPr lang="en-US"/>
          </a:p>
        </p:txBody>
      </p:sp>
      <p:sp>
        <p:nvSpPr>
          <p:cNvPr id="3" name="Text 1"/>
          <p:cNvSpPr/>
          <p:nvPr/>
        </p:nvSpPr>
        <p:spPr>
          <a:xfrm>
            <a:off x="822960" y="2743200"/>
            <a:ext cx="10515600" cy="365760"/>
          </a:xfrm>
          <a:prstGeom prst="rect">
            <a:avLst/>
          </a:prstGeom>
          <a:noFill/>
          <a:ln/>
        </p:spPr>
        <p:txBody>
          <a:bodyPr wrap="square" rtlCol="0" anchor="ctr"/>
          <a:lstStyle/>
          <a:p>
            <a:pPr marL="0" indent="0">
              <a:buNone/>
            </a:pPr>
            <a:r>
              <a:rPr lang="en-US" sz="1400" b="1" kern="0" spc="200" dirty="0">
                <a:solidFill>
                  <a:srgbClr val="D97706"/>
                </a:solidFill>
                <a:latin typeface="Calibri" pitchFamily="34" charset="0"/>
                <a:ea typeface="Calibri" pitchFamily="34" charset="-122"/>
                <a:cs typeface="Calibri" pitchFamily="34" charset="-120"/>
              </a:rPr>
              <a:t>PRACTICE SET</a:t>
            </a:r>
            <a:endParaRPr lang="en-US" sz="1400" dirty="0"/>
          </a:p>
        </p:txBody>
      </p:sp>
      <p:sp>
        <p:nvSpPr>
          <p:cNvPr id="4" name="Text 2"/>
          <p:cNvSpPr/>
          <p:nvPr/>
        </p:nvSpPr>
        <p:spPr>
          <a:xfrm>
            <a:off x="822960" y="3108960"/>
            <a:ext cx="10515600" cy="91440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Texas Vanity Plates</a:t>
            </a:r>
            <a:endParaRPr lang="en-US" sz="4000" dirty="0"/>
          </a:p>
        </p:txBody>
      </p:sp>
      <p:sp>
        <p:nvSpPr>
          <p:cNvPr id="5" name="Text 3"/>
          <p:cNvSpPr/>
          <p:nvPr/>
        </p:nvSpPr>
        <p:spPr>
          <a:xfrm>
            <a:off x="822960" y="3977640"/>
            <a:ext cx="9601200" cy="731520"/>
          </a:xfrm>
          <a:prstGeom prst="rect">
            <a:avLst/>
          </a:prstGeom>
          <a:noFill/>
          <a:ln/>
        </p:spPr>
        <p:txBody>
          <a:bodyPr wrap="square" rtlCol="0" anchor="ctr"/>
          <a:lstStyle/>
          <a:p>
            <a:pPr marL="0" indent="0">
              <a:buNone/>
            </a:pPr>
            <a:r>
              <a:rPr lang="en-US" sz="1600" dirty="0">
                <a:solidFill>
                  <a:srgbClr val="CADCFC"/>
                </a:solidFill>
                <a:latin typeface="Calibri" pitchFamily="34" charset="0"/>
                <a:ea typeface="Calibri" pitchFamily="34" charset="-122"/>
                <a:cs typeface="Calibri" pitchFamily="34" charset="-120"/>
              </a:rPr>
              <a:t>For every example, identify the ambiguous character(s) and decide: Letter O or Digit 0?</a:t>
            </a:r>
            <a:endParaRPr lang="en-US" sz="1600" dirty="0"/>
          </a:p>
        </p:txBody>
      </p:sp>
      <p:sp>
        <p:nvSpPr>
          <p:cNvPr id="6" name="Text 4"/>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A93A3"/>
                </a:solidFill>
                <a:latin typeface="Calibri" pitchFamily="34" charset="0"/>
                <a:ea typeface="Calibri" pitchFamily="34" charset="-122"/>
                <a:cs typeface="Calibri" pitchFamily="34" charset="-120"/>
              </a:rPr>
              <a:t>Vanity Plates Training</a:t>
            </a:r>
            <a:endParaRPr lang="en-US" sz="1000" dirty="0"/>
          </a:p>
        </p:txBody>
      </p:sp>
      <p:sp>
        <p:nvSpPr>
          <p:cNvPr id="7" name="Text 5"/>
          <p:cNvSpPr/>
          <p:nvPr/>
        </p:nvSpPr>
        <p:spPr>
          <a:xfrm>
            <a:off x="11277295" y="6537960"/>
            <a:ext cx="457200" cy="274320"/>
          </a:xfrm>
          <a:prstGeom prst="rect">
            <a:avLst/>
          </a:prstGeom>
          <a:noFill/>
          <a:ln/>
        </p:spPr>
        <p:txBody>
          <a:bodyPr wrap="square" rtlCol="0" anchor="ctr"/>
          <a:lstStyle/>
          <a:p>
            <a:pPr marL="0" indent="0" algn="r">
              <a:buNone/>
            </a:pPr>
            <a:r>
              <a:rPr lang="en-US" sz="1000" dirty="0">
                <a:solidFill>
                  <a:srgbClr val="8A93A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E2761"/>
          </a:solidFill>
          <a:ln/>
        </p:spPr>
        <p:txBody>
          <a:bodyPr/>
          <a:lstStyle/>
          <a:p>
            <a:endParaRPr lang="en-US"/>
          </a:p>
        </p:txBody>
      </p:sp>
      <p:sp>
        <p:nvSpPr>
          <p:cNvPr id="3" name="Text 1"/>
          <p:cNvSpPr/>
          <p:nvPr/>
        </p:nvSpPr>
        <p:spPr>
          <a:xfrm>
            <a:off x="1051560" y="320040"/>
            <a:ext cx="7315200" cy="274320"/>
          </a:xfrm>
          <a:prstGeom prst="rect">
            <a:avLst/>
          </a:prstGeom>
          <a:noFill/>
          <a:ln/>
        </p:spPr>
        <p:txBody>
          <a:bodyPr wrap="square" rtlCol="0" anchor="ctr"/>
          <a:lstStyle/>
          <a:p>
            <a:pPr marL="0" indent="0">
              <a:buNone/>
            </a:pPr>
            <a:r>
              <a:rPr lang="en-US" sz="1200" b="1" kern="0" spc="150" dirty="0">
                <a:solidFill>
                  <a:srgbClr val="1E2761"/>
                </a:solidFill>
                <a:latin typeface="Calibri" pitchFamily="34" charset="0"/>
                <a:ea typeface="Calibri" pitchFamily="34" charset="-122"/>
                <a:cs typeface="Calibri" pitchFamily="34" charset="-120"/>
              </a:rPr>
              <a:t>TEXAS PLATE 1</a:t>
            </a:r>
            <a:endParaRPr lang="en-US" sz="1200" dirty="0"/>
          </a:p>
        </p:txBody>
      </p:sp>
      <p:sp>
        <p:nvSpPr>
          <p:cNvPr id="4" name="Text 2"/>
          <p:cNvSpPr/>
          <p:nvPr/>
        </p:nvSpPr>
        <p:spPr>
          <a:xfrm>
            <a:off x="1051560" y="566928"/>
            <a:ext cx="10241280" cy="548640"/>
          </a:xfrm>
          <a:prstGeom prst="rect">
            <a:avLst/>
          </a:prstGeom>
          <a:noFill/>
          <a:ln/>
        </p:spPr>
        <p:txBody>
          <a:bodyPr wrap="square" rtlCol="0" anchor="ctr"/>
          <a:lstStyle/>
          <a:p>
            <a:pPr marL="0" indent="0">
              <a:buNone/>
            </a:pPr>
            <a:r>
              <a:rPr lang="en-US" sz="2800" b="1" dirty="0">
                <a:solidFill>
                  <a:srgbClr val="141A45"/>
                </a:solidFill>
                <a:latin typeface="Cambria" pitchFamily="34" charset="0"/>
                <a:ea typeface="Cambria" pitchFamily="34" charset="-122"/>
                <a:cs typeface="Cambria" pitchFamily="34" charset="-120"/>
              </a:rPr>
              <a:t>Identify the Character(s)</a:t>
            </a:r>
            <a:endParaRPr lang="en-US" sz="2800" dirty="0"/>
          </a:p>
        </p:txBody>
      </p:sp>
      <p:sp>
        <p:nvSpPr>
          <p:cNvPr id="5" name="Shape 3"/>
          <p:cNvSpPr/>
          <p:nvPr/>
        </p:nvSpPr>
        <p:spPr>
          <a:xfrm>
            <a:off x="457200" y="1554480"/>
            <a:ext cx="6949440" cy="3657600"/>
          </a:xfrm>
          <a:prstGeom prst="rect">
            <a:avLst/>
          </a:prstGeom>
          <a:solidFill>
            <a:srgbClr val="F4F6FA"/>
          </a:solidFill>
          <a:ln w="12700">
            <a:solidFill>
              <a:srgbClr val="CADCFC"/>
            </a:solidFill>
            <a:prstDash val="solid"/>
          </a:ln>
        </p:spPr>
        <p:txBody>
          <a:bodyPr/>
          <a:lstStyle/>
          <a:p>
            <a:endParaRPr lang="en-US"/>
          </a:p>
        </p:txBody>
      </p:sp>
      <p:pic>
        <p:nvPicPr>
          <p:cNvPr id="6" name="Image 0" descr="/home/claude/vanity_deck/images/1788355727531_image.png"/>
          <p:cNvPicPr>
            <a:picLocks noChangeAspect="1"/>
          </p:cNvPicPr>
          <p:nvPr/>
        </p:nvPicPr>
        <p:blipFill>
          <a:blip r:embed="rId3"/>
          <a:stretch>
            <a:fillRect/>
          </a:stretch>
        </p:blipFill>
        <p:spPr>
          <a:xfrm>
            <a:off x="594360" y="2912403"/>
            <a:ext cx="6675120" cy="941754"/>
          </a:xfrm>
          <a:prstGeom prst="rect">
            <a:avLst/>
          </a:prstGeom>
        </p:spPr>
      </p:pic>
      <p:sp>
        <p:nvSpPr>
          <p:cNvPr id="7" name="Text 4"/>
          <p:cNvSpPr/>
          <p:nvPr/>
        </p:nvSpPr>
        <p:spPr>
          <a:xfrm>
            <a:off x="7635240" y="1554480"/>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State / Plate Type:</a:t>
            </a:r>
            <a:endParaRPr lang="en-US" sz="1200" dirty="0"/>
          </a:p>
        </p:txBody>
      </p:sp>
      <p:sp>
        <p:nvSpPr>
          <p:cNvPr id="8" name="Shape 5"/>
          <p:cNvSpPr/>
          <p:nvPr/>
        </p:nvSpPr>
        <p:spPr>
          <a:xfrm>
            <a:off x="7635240" y="1847088"/>
            <a:ext cx="4069080" cy="502920"/>
          </a:xfrm>
          <a:prstGeom prst="rect">
            <a:avLst/>
          </a:prstGeom>
          <a:solidFill>
            <a:srgbClr val="FFFFFF"/>
          </a:solidFill>
          <a:ln w="12700">
            <a:solidFill>
              <a:srgbClr val="8A93A3"/>
            </a:solidFill>
            <a:prstDash val="dash"/>
          </a:ln>
        </p:spPr>
        <p:txBody>
          <a:bodyPr/>
          <a:lstStyle/>
          <a:p>
            <a:r>
              <a:rPr lang="en-US" dirty="0"/>
              <a:t>TEXAS</a:t>
            </a:r>
          </a:p>
        </p:txBody>
      </p:sp>
      <p:sp>
        <p:nvSpPr>
          <p:cNvPr id="10" name="Text 7"/>
          <p:cNvSpPr/>
          <p:nvPr/>
        </p:nvSpPr>
        <p:spPr>
          <a:xfrm>
            <a:off x="7635240" y="2551176"/>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Character(s) in Question:</a:t>
            </a:r>
            <a:endParaRPr lang="en-US" sz="1200" dirty="0"/>
          </a:p>
        </p:txBody>
      </p:sp>
      <p:sp>
        <p:nvSpPr>
          <p:cNvPr id="11" name="Shape 8"/>
          <p:cNvSpPr/>
          <p:nvPr/>
        </p:nvSpPr>
        <p:spPr>
          <a:xfrm>
            <a:off x="7635240" y="2843784"/>
            <a:ext cx="4069080" cy="502920"/>
          </a:xfrm>
          <a:prstGeom prst="rect">
            <a:avLst/>
          </a:prstGeom>
          <a:solidFill>
            <a:srgbClr val="FFFFFF"/>
          </a:solidFill>
          <a:ln w="12700">
            <a:solidFill>
              <a:srgbClr val="8A93A3"/>
            </a:solidFill>
            <a:prstDash val="dash"/>
          </a:ln>
        </p:spPr>
        <p:txBody>
          <a:bodyPr/>
          <a:lstStyle/>
          <a:p>
            <a:r>
              <a:rPr lang="en-US" dirty="0"/>
              <a:t>SY?3</a:t>
            </a:r>
          </a:p>
        </p:txBody>
      </p:sp>
      <p:sp>
        <p:nvSpPr>
          <p:cNvPr id="13" name="Text 10"/>
          <p:cNvSpPr/>
          <p:nvPr/>
        </p:nvSpPr>
        <p:spPr>
          <a:xfrm>
            <a:off x="7635240" y="3547872"/>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Verdict — Letter O or Digit 0:</a:t>
            </a:r>
            <a:endParaRPr lang="en-US" sz="1200" dirty="0"/>
          </a:p>
        </p:txBody>
      </p:sp>
      <p:sp>
        <p:nvSpPr>
          <p:cNvPr id="14" name="Shape 11"/>
          <p:cNvSpPr/>
          <p:nvPr/>
        </p:nvSpPr>
        <p:spPr>
          <a:xfrm>
            <a:off x="7635240" y="3840480"/>
            <a:ext cx="4069080" cy="502920"/>
          </a:xfrm>
          <a:prstGeom prst="rect">
            <a:avLst/>
          </a:prstGeom>
          <a:solidFill>
            <a:srgbClr val="FFFFFF"/>
          </a:solidFill>
          <a:ln w="12700">
            <a:solidFill>
              <a:srgbClr val="8A93A3"/>
            </a:solidFill>
            <a:prstDash val="dash"/>
          </a:ln>
        </p:spPr>
        <p:txBody>
          <a:bodyPr/>
          <a:lstStyle/>
          <a:p>
            <a:r>
              <a:rPr lang="en-US" dirty="0"/>
              <a:t>This is the NUMBER 0: SY03</a:t>
            </a:r>
          </a:p>
        </p:txBody>
      </p:sp>
      <p:sp>
        <p:nvSpPr>
          <p:cNvPr id="16" name="Text 13"/>
          <p:cNvSpPr/>
          <p:nvPr/>
        </p:nvSpPr>
        <p:spPr>
          <a:xfrm>
            <a:off x="7635240" y="4544568"/>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Reasoning / Teaching Point:</a:t>
            </a:r>
            <a:endParaRPr lang="en-US" sz="1200" dirty="0"/>
          </a:p>
        </p:txBody>
      </p:sp>
      <p:sp>
        <p:nvSpPr>
          <p:cNvPr id="17" name="Shape 14"/>
          <p:cNvSpPr/>
          <p:nvPr/>
        </p:nvSpPr>
        <p:spPr>
          <a:xfrm>
            <a:off x="7635240" y="4837176"/>
            <a:ext cx="4069080" cy="1005840"/>
          </a:xfrm>
          <a:prstGeom prst="rect">
            <a:avLst/>
          </a:prstGeom>
          <a:solidFill>
            <a:srgbClr val="FFFFFF"/>
          </a:solidFill>
          <a:ln w="12700">
            <a:solidFill>
              <a:srgbClr val="8A93A3"/>
            </a:solidFill>
            <a:prstDash val="dash"/>
          </a:ln>
        </p:spPr>
        <p:txBody>
          <a:bodyPr/>
          <a:lstStyle/>
          <a:p>
            <a:r>
              <a:rPr lang="en-US" dirty="0"/>
              <a:t>Since the 0 character is next to another number, it would be best judgment to use the number Zero.</a:t>
            </a:r>
          </a:p>
        </p:txBody>
      </p:sp>
      <p:sp>
        <p:nvSpPr>
          <p:cNvPr id="19" name="Shape 16"/>
          <p:cNvSpPr/>
          <p:nvPr/>
        </p:nvSpPr>
        <p:spPr>
          <a:xfrm>
            <a:off x="457200" y="5349240"/>
            <a:ext cx="2011680" cy="365760"/>
          </a:xfrm>
          <a:prstGeom prst="roundRect">
            <a:avLst>
              <a:gd name="adj" fmla="val 15000"/>
            </a:avLst>
          </a:prstGeom>
          <a:solidFill>
            <a:srgbClr val="EAF1FE"/>
          </a:solidFill>
          <a:ln w="12700">
            <a:solidFill>
              <a:srgbClr val="CADCFC"/>
            </a:solidFill>
            <a:prstDash val="solid"/>
          </a:ln>
        </p:spPr>
        <p:txBody>
          <a:bodyPr/>
          <a:lstStyle/>
          <a:p>
            <a:endParaRPr lang="en-US"/>
          </a:p>
        </p:txBody>
      </p:sp>
      <p:sp>
        <p:nvSpPr>
          <p:cNvPr id="20" name="Text 17"/>
          <p:cNvSpPr/>
          <p:nvPr/>
        </p:nvSpPr>
        <p:spPr>
          <a:xfrm>
            <a:off x="457200" y="5349240"/>
            <a:ext cx="2011680" cy="36576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Texas Plate 1 of 8</a:t>
            </a:r>
            <a:endParaRPr lang="en-US" sz="1100" dirty="0"/>
          </a:p>
        </p:txBody>
      </p:sp>
      <p:sp>
        <p:nvSpPr>
          <p:cNvPr id="21" name="Text 18"/>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A93A3"/>
                </a:solidFill>
                <a:latin typeface="Calibri" pitchFamily="34" charset="0"/>
                <a:ea typeface="Calibri" pitchFamily="34" charset="-122"/>
                <a:cs typeface="Calibri" pitchFamily="34" charset="-120"/>
              </a:rPr>
              <a:t>Vanity Plates Training</a:t>
            </a:r>
            <a:endParaRPr lang="en-US" sz="1000" dirty="0"/>
          </a:p>
        </p:txBody>
      </p:sp>
      <p:sp>
        <p:nvSpPr>
          <p:cNvPr id="22" name="Text 19"/>
          <p:cNvSpPr/>
          <p:nvPr/>
        </p:nvSpPr>
        <p:spPr>
          <a:xfrm>
            <a:off x="11277295" y="6537960"/>
            <a:ext cx="457200" cy="274320"/>
          </a:xfrm>
          <a:prstGeom prst="rect">
            <a:avLst/>
          </a:prstGeom>
          <a:noFill/>
          <a:ln/>
        </p:spPr>
        <p:txBody>
          <a:bodyPr wrap="square" rtlCol="0" anchor="ctr"/>
          <a:lstStyle/>
          <a:p>
            <a:pPr marL="0" indent="0" algn="r">
              <a:buNone/>
            </a:pPr>
            <a:r>
              <a:rPr lang="en-US" sz="1000" dirty="0">
                <a:solidFill>
                  <a:srgbClr val="8A93A3"/>
                </a:solidFill>
                <a:latin typeface="Calibri" pitchFamily="34" charset="0"/>
                <a:ea typeface="Calibri" pitchFamily="34" charset="-122"/>
                <a:cs typeface="Calibri" pitchFamily="34" charset="-120"/>
              </a:rPr>
              <a:t>7</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D97706"/>
          </a:solidFill>
          <a:ln/>
        </p:spPr>
        <p:txBody>
          <a:bodyPr/>
          <a:lstStyle/>
          <a:p>
            <a:endParaRPr lang="en-US"/>
          </a:p>
        </p:txBody>
      </p:sp>
      <p:sp>
        <p:nvSpPr>
          <p:cNvPr id="3" name="Text 1"/>
          <p:cNvSpPr/>
          <p:nvPr/>
        </p:nvSpPr>
        <p:spPr>
          <a:xfrm>
            <a:off x="1051560" y="320040"/>
            <a:ext cx="7315200" cy="274320"/>
          </a:xfrm>
          <a:prstGeom prst="rect">
            <a:avLst/>
          </a:prstGeom>
          <a:noFill/>
          <a:ln/>
        </p:spPr>
        <p:txBody>
          <a:bodyPr wrap="square" rtlCol="0" anchor="ctr"/>
          <a:lstStyle/>
          <a:p>
            <a:pPr marL="0" indent="0">
              <a:buNone/>
            </a:pPr>
            <a:r>
              <a:rPr lang="en-US" sz="1200" b="1" kern="0" spc="150" dirty="0">
                <a:solidFill>
                  <a:srgbClr val="D97706"/>
                </a:solidFill>
                <a:latin typeface="Calibri" pitchFamily="34" charset="0"/>
                <a:ea typeface="Calibri" pitchFamily="34" charset="-122"/>
                <a:cs typeface="Calibri" pitchFamily="34" charset="-120"/>
              </a:rPr>
              <a:t>TEXAS PLATE 2</a:t>
            </a:r>
            <a:endParaRPr lang="en-US" sz="1200" dirty="0"/>
          </a:p>
        </p:txBody>
      </p:sp>
      <p:sp>
        <p:nvSpPr>
          <p:cNvPr id="4" name="Text 2"/>
          <p:cNvSpPr/>
          <p:nvPr/>
        </p:nvSpPr>
        <p:spPr>
          <a:xfrm>
            <a:off x="1051560" y="566928"/>
            <a:ext cx="10241280" cy="548640"/>
          </a:xfrm>
          <a:prstGeom prst="rect">
            <a:avLst/>
          </a:prstGeom>
          <a:noFill/>
          <a:ln/>
        </p:spPr>
        <p:txBody>
          <a:bodyPr wrap="square" rtlCol="0" anchor="ctr"/>
          <a:lstStyle/>
          <a:p>
            <a:pPr marL="0" indent="0">
              <a:buNone/>
            </a:pPr>
            <a:r>
              <a:rPr lang="en-US" sz="2800" b="1" dirty="0">
                <a:solidFill>
                  <a:srgbClr val="141A45"/>
                </a:solidFill>
                <a:latin typeface="Cambria" pitchFamily="34" charset="0"/>
                <a:ea typeface="Cambria" pitchFamily="34" charset="-122"/>
                <a:cs typeface="Cambria" pitchFamily="34" charset="-120"/>
              </a:rPr>
              <a:t>Identify the Character(s)</a:t>
            </a:r>
            <a:endParaRPr lang="en-US" sz="2800" dirty="0"/>
          </a:p>
        </p:txBody>
      </p:sp>
      <p:sp>
        <p:nvSpPr>
          <p:cNvPr id="5" name="Shape 3"/>
          <p:cNvSpPr/>
          <p:nvPr/>
        </p:nvSpPr>
        <p:spPr>
          <a:xfrm>
            <a:off x="457200" y="1554480"/>
            <a:ext cx="6949440" cy="3657600"/>
          </a:xfrm>
          <a:prstGeom prst="rect">
            <a:avLst/>
          </a:prstGeom>
          <a:solidFill>
            <a:srgbClr val="F4F6FA"/>
          </a:solidFill>
          <a:ln w="12700">
            <a:solidFill>
              <a:srgbClr val="CADCFC"/>
            </a:solidFill>
            <a:prstDash val="solid"/>
          </a:ln>
        </p:spPr>
        <p:txBody>
          <a:bodyPr/>
          <a:lstStyle/>
          <a:p>
            <a:endParaRPr lang="en-US"/>
          </a:p>
        </p:txBody>
      </p:sp>
      <p:pic>
        <p:nvPicPr>
          <p:cNvPr id="6" name="Image 0" descr="/home/claude/vanity_deck/images/1788355766428_image.png"/>
          <p:cNvPicPr>
            <a:picLocks noChangeAspect="1"/>
          </p:cNvPicPr>
          <p:nvPr/>
        </p:nvPicPr>
        <p:blipFill>
          <a:blip r:embed="rId3"/>
          <a:stretch>
            <a:fillRect/>
          </a:stretch>
        </p:blipFill>
        <p:spPr>
          <a:xfrm>
            <a:off x="1073961" y="1737360"/>
            <a:ext cx="5715917" cy="3291840"/>
          </a:xfrm>
          <a:prstGeom prst="rect">
            <a:avLst/>
          </a:prstGeom>
        </p:spPr>
      </p:pic>
      <p:sp>
        <p:nvSpPr>
          <p:cNvPr id="7" name="Text 4"/>
          <p:cNvSpPr/>
          <p:nvPr/>
        </p:nvSpPr>
        <p:spPr>
          <a:xfrm>
            <a:off x="7635240" y="1554480"/>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State / Plate Type:</a:t>
            </a:r>
            <a:endParaRPr lang="en-US" sz="1200" dirty="0"/>
          </a:p>
        </p:txBody>
      </p:sp>
      <p:sp>
        <p:nvSpPr>
          <p:cNvPr id="8" name="Shape 5"/>
          <p:cNvSpPr/>
          <p:nvPr/>
        </p:nvSpPr>
        <p:spPr>
          <a:xfrm>
            <a:off x="7635240" y="1847088"/>
            <a:ext cx="4069080" cy="502920"/>
          </a:xfrm>
          <a:prstGeom prst="rect">
            <a:avLst/>
          </a:prstGeom>
          <a:solidFill>
            <a:srgbClr val="FFFFFF"/>
          </a:solidFill>
          <a:ln w="12700">
            <a:solidFill>
              <a:srgbClr val="8A93A3"/>
            </a:solidFill>
            <a:prstDash val="dash"/>
          </a:ln>
        </p:spPr>
        <p:txBody>
          <a:bodyPr/>
          <a:lstStyle/>
          <a:p>
            <a:r>
              <a:rPr lang="en-US" dirty="0"/>
              <a:t>TEXAS</a:t>
            </a:r>
          </a:p>
        </p:txBody>
      </p:sp>
      <p:sp>
        <p:nvSpPr>
          <p:cNvPr id="10" name="Text 7"/>
          <p:cNvSpPr/>
          <p:nvPr/>
        </p:nvSpPr>
        <p:spPr>
          <a:xfrm>
            <a:off x="7635240" y="2551176"/>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Character(s) in Question:</a:t>
            </a:r>
            <a:endParaRPr lang="en-US" sz="1200" dirty="0"/>
          </a:p>
        </p:txBody>
      </p:sp>
      <p:sp>
        <p:nvSpPr>
          <p:cNvPr id="11" name="Shape 8"/>
          <p:cNvSpPr/>
          <p:nvPr/>
        </p:nvSpPr>
        <p:spPr>
          <a:xfrm>
            <a:off x="7635240" y="2843784"/>
            <a:ext cx="4069080" cy="502920"/>
          </a:xfrm>
          <a:prstGeom prst="rect">
            <a:avLst/>
          </a:prstGeom>
          <a:solidFill>
            <a:srgbClr val="FFFFFF"/>
          </a:solidFill>
          <a:ln w="12700">
            <a:solidFill>
              <a:srgbClr val="8A93A3"/>
            </a:solidFill>
            <a:prstDash val="dash"/>
          </a:ln>
        </p:spPr>
        <p:txBody>
          <a:bodyPr/>
          <a:lstStyle/>
          <a:p>
            <a:r>
              <a:rPr lang="en-US" dirty="0"/>
              <a:t>R?VEHER</a:t>
            </a:r>
          </a:p>
        </p:txBody>
      </p:sp>
      <p:sp>
        <p:nvSpPr>
          <p:cNvPr id="13" name="Text 10"/>
          <p:cNvSpPr/>
          <p:nvPr/>
        </p:nvSpPr>
        <p:spPr>
          <a:xfrm>
            <a:off x="7635240" y="3547872"/>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Verdict — Letter O or Digit 0:</a:t>
            </a:r>
            <a:endParaRPr lang="en-US" sz="1200" dirty="0"/>
          </a:p>
        </p:txBody>
      </p:sp>
      <p:sp>
        <p:nvSpPr>
          <p:cNvPr id="14" name="Shape 11"/>
          <p:cNvSpPr/>
          <p:nvPr/>
        </p:nvSpPr>
        <p:spPr>
          <a:xfrm>
            <a:off x="7635240" y="3840480"/>
            <a:ext cx="4069080" cy="502920"/>
          </a:xfrm>
          <a:prstGeom prst="rect">
            <a:avLst/>
          </a:prstGeom>
          <a:solidFill>
            <a:srgbClr val="FFFFFF"/>
          </a:solidFill>
          <a:ln w="12700">
            <a:solidFill>
              <a:srgbClr val="8A93A3"/>
            </a:solidFill>
            <a:prstDash val="dash"/>
          </a:ln>
        </p:spPr>
        <p:txBody>
          <a:bodyPr/>
          <a:lstStyle/>
          <a:p>
            <a:r>
              <a:rPr lang="en-US" dirty="0"/>
              <a:t>This is the LETTER O: ROVEHER</a:t>
            </a:r>
          </a:p>
        </p:txBody>
      </p:sp>
      <p:sp>
        <p:nvSpPr>
          <p:cNvPr id="16" name="Text 13"/>
          <p:cNvSpPr/>
          <p:nvPr/>
        </p:nvSpPr>
        <p:spPr>
          <a:xfrm>
            <a:off x="7635240" y="4544568"/>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Reasoning / Teaching Point:</a:t>
            </a:r>
            <a:endParaRPr lang="en-US" sz="1200" dirty="0"/>
          </a:p>
        </p:txBody>
      </p:sp>
      <p:sp>
        <p:nvSpPr>
          <p:cNvPr id="17" name="Shape 14"/>
          <p:cNvSpPr/>
          <p:nvPr/>
        </p:nvSpPr>
        <p:spPr>
          <a:xfrm>
            <a:off x="7635240" y="4837176"/>
            <a:ext cx="4069080" cy="1005840"/>
          </a:xfrm>
          <a:prstGeom prst="rect">
            <a:avLst/>
          </a:prstGeom>
          <a:solidFill>
            <a:srgbClr val="FFFFFF"/>
          </a:solidFill>
          <a:ln w="12700">
            <a:solidFill>
              <a:srgbClr val="8A93A3"/>
            </a:solidFill>
            <a:prstDash val="dash"/>
          </a:ln>
        </p:spPr>
        <p:txBody>
          <a:bodyPr/>
          <a:lstStyle/>
          <a:p>
            <a:r>
              <a:rPr lang="en-US" dirty="0"/>
              <a:t>This is an obvious custom plate by seeing its all letters spells out words.</a:t>
            </a:r>
          </a:p>
        </p:txBody>
      </p:sp>
      <p:sp>
        <p:nvSpPr>
          <p:cNvPr id="19" name="Shape 16"/>
          <p:cNvSpPr/>
          <p:nvPr/>
        </p:nvSpPr>
        <p:spPr>
          <a:xfrm>
            <a:off x="457200" y="5349240"/>
            <a:ext cx="2011680" cy="365760"/>
          </a:xfrm>
          <a:prstGeom prst="roundRect">
            <a:avLst>
              <a:gd name="adj" fmla="val 15000"/>
            </a:avLst>
          </a:prstGeom>
          <a:solidFill>
            <a:srgbClr val="EAF1FE"/>
          </a:solidFill>
          <a:ln w="12700">
            <a:solidFill>
              <a:srgbClr val="CADCFC"/>
            </a:solidFill>
            <a:prstDash val="solid"/>
          </a:ln>
        </p:spPr>
        <p:txBody>
          <a:bodyPr/>
          <a:lstStyle/>
          <a:p>
            <a:endParaRPr lang="en-US"/>
          </a:p>
        </p:txBody>
      </p:sp>
      <p:sp>
        <p:nvSpPr>
          <p:cNvPr id="20" name="Text 17"/>
          <p:cNvSpPr/>
          <p:nvPr/>
        </p:nvSpPr>
        <p:spPr>
          <a:xfrm>
            <a:off x="457200" y="5349240"/>
            <a:ext cx="2011680" cy="36576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Texas Plate 2 of 8</a:t>
            </a:r>
            <a:endParaRPr lang="en-US" sz="1100" dirty="0"/>
          </a:p>
        </p:txBody>
      </p:sp>
      <p:sp>
        <p:nvSpPr>
          <p:cNvPr id="21" name="Text 18"/>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A93A3"/>
                </a:solidFill>
                <a:latin typeface="Calibri" pitchFamily="34" charset="0"/>
                <a:ea typeface="Calibri" pitchFamily="34" charset="-122"/>
                <a:cs typeface="Calibri" pitchFamily="34" charset="-120"/>
              </a:rPr>
              <a:t>Vanity Plates Training</a:t>
            </a:r>
            <a:endParaRPr lang="en-US" sz="1000" dirty="0"/>
          </a:p>
        </p:txBody>
      </p:sp>
      <p:sp>
        <p:nvSpPr>
          <p:cNvPr id="22" name="Text 19"/>
          <p:cNvSpPr/>
          <p:nvPr/>
        </p:nvSpPr>
        <p:spPr>
          <a:xfrm>
            <a:off x="11277295" y="6537960"/>
            <a:ext cx="457200" cy="274320"/>
          </a:xfrm>
          <a:prstGeom prst="rect">
            <a:avLst/>
          </a:prstGeom>
          <a:noFill/>
          <a:ln/>
        </p:spPr>
        <p:txBody>
          <a:bodyPr wrap="square" rtlCol="0" anchor="ctr"/>
          <a:lstStyle/>
          <a:p>
            <a:pPr marL="0" indent="0" algn="r">
              <a:buNone/>
            </a:pPr>
            <a:r>
              <a:rPr lang="en-US" sz="1000" dirty="0">
                <a:solidFill>
                  <a:srgbClr val="8A93A3"/>
                </a:solidFill>
                <a:latin typeface="Calibri" pitchFamily="34" charset="0"/>
                <a:ea typeface="Calibri" pitchFamily="34" charset="-122"/>
                <a:cs typeface="Calibri" pitchFamily="34" charset="-120"/>
              </a:rPr>
              <a:t>10</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D97706"/>
          </a:solidFill>
          <a:ln/>
        </p:spPr>
        <p:txBody>
          <a:bodyPr/>
          <a:lstStyle/>
          <a:p>
            <a:endParaRPr lang="en-US"/>
          </a:p>
        </p:txBody>
      </p:sp>
      <p:sp>
        <p:nvSpPr>
          <p:cNvPr id="3" name="Text 1"/>
          <p:cNvSpPr/>
          <p:nvPr/>
        </p:nvSpPr>
        <p:spPr>
          <a:xfrm>
            <a:off x="1051560" y="320040"/>
            <a:ext cx="7315200" cy="274320"/>
          </a:xfrm>
          <a:prstGeom prst="rect">
            <a:avLst/>
          </a:prstGeom>
          <a:noFill/>
          <a:ln/>
        </p:spPr>
        <p:txBody>
          <a:bodyPr wrap="square" rtlCol="0" anchor="ctr"/>
          <a:lstStyle/>
          <a:p>
            <a:pPr marL="0" indent="0">
              <a:buNone/>
            </a:pPr>
            <a:r>
              <a:rPr lang="en-US" sz="1200" b="1" kern="0" spc="150" dirty="0">
                <a:solidFill>
                  <a:srgbClr val="D97706"/>
                </a:solidFill>
                <a:latin typeface="Calibri" pitchFamily="34" charset="0"/>
                <a:ea typeface="Calibri" pitchFamily="34" charset="-122"/>
                <a:cs typeface="Calibri" pitchFamily="34" charset="-120"/>
              </a:rPr>
              <a:t>TEXAS PLATE 3</a:t>
            </a:r>
            <a:endParaRPr lang="en-US" sz="1200" dirty="0"/>
          </a:p>
        </p:txBody>
      </p:sp>
      <p:sp>
        <p:nvSpPr>
          <p:cNvPr id="4" name="Text 2"/>
          <p:cNvSpPr/>
          <p:nvPr/>
        </p:nvSpPr>
        <p:spPr>
          <a:xfrm>
            <a:off x="1051560" y="566928"/>
            <a:ext cx="10241280" cy="548640"/>
          </a:xfrm>
          <a:prstGeom prst="rect">
            <a:avLst/>
          </a:prstGeom>
          <a:noFill/>
          <a:ln/>
        </p:spPr>
        <p:txBody>
          <a:bodyPr wrap="square" rtlCol="0" anchor="ctr"/>
          <a:lstStyle/>
          <a:p>
            <a:pPr marL="0" indent="0">
              <a:buNone/>
            </a:pPr>
            <a:r>
              <a:rPr lang="en-US" sz="2800" b="1" dirty="0">
                <a:solidFill>
                  <a:srgbClr val="141A45"/>
                </a:solidFill>
                <a:latin typeface="Cambria" pitchFamily="34" charset="0"/>
                <a:ea typeface="Cambria" pitchFamily="34" charset="-122"/>
                <a:cs typeface="Cambria" pitchFamily="34" charset="-120"/>
              </a:rPr>
              <a:t>Identify the Character(s)</a:t>
            </a:r>
            <a:endParaRPr lang="en-US" sz="2800" dirty="0"/>
          </a:p>
        </p:txBody>
      </p:sp>
      <p:sp>
        <p:nvSpPr>
          <p:cNvPr id="5" name="Shape 3"/>
          <p:cNvSpPr/>
          <p:nvPr/>
        </p:nvSpPr>
        <p:spPr>
          <a:xfrm>
            <a:off x="457200" y="1554480"/>
            <a:ext cx="6949440" cy="3657600"/>
          </a:xfrm>
          <a:prstGeom prst="rect">
            <a:avLst/>
          </a:prstGeom>
          <a:solidFill>
            <a:srgbClr val="F4F6FA"/>
          </a:solidFill>
          <a:ln w="12700">
            <a:solidFill>
              <a:srgbClr val="CADCFC"/>
            </a:solidFill>
            <a:prstDash val="solid"/>
          </a:ln>
        </p:spPr>
        <p:txBody>
          <a:bodyPr/>
          <a:lstStyle/>
          <a:p>
            <a:endParaRPr lang="en-US"/>
          </a:p>
        </p:txBody>
      </p:sp>
      <p:pic>
        <p:nvPicPr>
          <p:cNvPr id="6" name="Image 0" descr="/home/claude/vanity_deck/images/1788355779071_image.png"/>
          <p:cNvPicPr>
            <a:picLocks noChangeAspect="1"/>
          </p:cNvPicPr>
          <p:nvPr/>
        </p:nvPicPr>
        <p:blipFill>
          <a:blip r:embed="rId3"/>
          <a:stretch>
            <a:fillRect/>
          </a:stretch>
        </p:blipFill>
        <p:spPr>
          <a:xfrm>
            <a:off x="594360" y="1748359"/>
            <a:ext cx="6675120" cy="3269841"/>
          </a:xfrm>
          <a:prstGeom prst="rect">
            <a:avLst/>
          </a:prstGeom>
        </p:spPr>
      </p:pic>
      <p:sp>
        <p:nvSpPr>
          <p:cNvPr id="7" name="Text 4"/>
          <p:cNvSpPr/>
          <p:nvPr/>
        </p:nvSpPr>
        <p:spPr>
          <a:xfrm>
            <a:off x="7635240" y="1554480"/>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State / Plate Type:</a:t>
            </a:r>
            <a:endParaRPr lang="en-US" sz="1200" dirty="0"/>
          </a:p>
        </p:txBody>
      </p:sp>
      <p:sp>
        <p:nvSpPr>
          <p:cNvPr id="8" name="Shape 5"/>
          <p:cNvSpPr/>
          <p:nvPr/>
        </p:nvSpPr>
        <p:spPr>
          <a:xfrm>
            <a:off x="7635240" y="1847088"/>
            <a:ext cx="4069080" cy="502920"/>
          </a:xfrm>
          <a:prstGeom prst="rect">
            <a:avLst/>
          </a:prstGeom>
          <a:solidFill>
            <a:srgbClr val="FFFFFF"/>
          </a:solidFill>
          <a:ln w="12700">
            <a:solidFill>
              <a:srgbClr val="8A93A3"/>
            </a:solidFill>
            <a:prstDash val="dash"/>
          </a:ln>
        </p:spPr>
        <p:txBody>
          <a:bodyPr/>
          <a:lstStyle/>
          <a:p>
            <a:r>
              <a:rPr lang="en-US" dirty="0"/>
              <a:t>TEXAS</a:t>
            </a:r>
          </a:p>
        </p:txBody>
      </p:sp>
      <p:sp>
        <p:nvSpPr>
          <p:cNvPr id="10" name="Text 7"/>
          <p:cNvSpPr/>
          <p:nvPr/>
        </p:nvSpPr>
        <p:spPr>
          <a:xfrm>
            <a:off x="7635240" y="2551176"/>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Character(s) in Question:</a:t>
            </a:r>
            <a:endParaRPr lang="en-US" sz="1200" dirty="0"/>
          </a:p>
        </p:txBody>
      </p:sp>
      <p:sp>
        <p:nvSpPr>
          <p:cNvPr id="11" name="Shape 8"/>
          <p:cNvSpPr/>
          <p:nvPr/>
        </p:nvSpPr>
        <p:spPr>
          <a:xfrm>
            <a:off x="7635240" y="2843784"/>
            <a:ext cx="4069080" cy="502920"/>
          </a:xfrm>
          <a:prstGeom prst="rect">
            <a:avLst/>
          </a:prstGeom>
          <a:solidFill>
            <a:srgbClr val="FFFFFF"/>
          </a:solidFill>
          <a:ln w="12700">
            <a:solidFill>
              <a:srgbClr val="8A93A3"/>
            </a:solidFill>
            <a:prstDash val="dash"/>
          </a:ln>
        </p:spPr>
        <p:txBody>
          <a:bodyPr/>
          <a:lstStyle/>
          <a:p>
            <a:r>
              <a:rPr lang="en-US" dirty="0"/>
              <a:t>PBW964?</a:t>
            </a:r>
          </a:p>
        </p:txBody>
      </p:sp>
      <p:sp>
        <p:nvSpPr>
          <p:cNvPr id="13" name="Text 10"/>
          <p:cNvSpPr/>
          <p:nvPr/>
        </p:nvSpPr>
        <p:spPr>
          <a:xfrm>
            <a:off x="7635240" y="3547872"/>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Verdict — Letter O or Digit 0:</a:t>
            </a:r>
            <a:endParaRPr lang="en-US" sz="1200" dirty="0"/>
          </a:p>
        </p:txBody>
      </p:sp>
      <p:sp>
        <p:nvSpPr>
          <p:cNvPr id="14" name="Shape 11"/>
          <p:cNvSpPr/>
          <p:nvPr/>
        </p:nvSpPr>
        <p:spPr>
          <a:xfrm>
            <a:off x="7635240" y="3840480"/>
            <a:ext cx="4069080" cy="502920"/>
          </a:xfrm>
          <a:prstGeom prst="rect">
            <a:avLst/>
          </a:prstGeom>
          <a:solidFill>
            <a:srgbClr val="FFFFFF"/>
          </a:solidFill>
          <a:ln w="12700">
            <a:solidFill>
              <a:srgbClr val="8A93A3"/>
            </a:solidFill>
            <a:prstDash val="dash"/>
          </a:ln>
        </p:spPr>
        <p:txBody>
          <a:bodyPr/>
          <a:lstStyle/>
          <a:p>
            <a:r>
              <a:rPr lang="en-US" dirty="0"/>
              <a:t>This is the NUMBER 0: PBW9640</a:t>
            </a:r>
          </a:p>
        </p:txBody>
      </p:sp>
      <p:sp>
        <p:nvSpPr>
          <p:cNvPr id="16" name="Text 13"/>
          <p:cNvSpPr/>
          <p:nvPr/>
        </p:nvSpPr>
        <p:spPr>
          <a:xfrm>
            <a:off x="7635240" y="4544568"/>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Reasoning / Teaching Point:</a:t>
            </a:r>
            <a:endParaRPr lang="en-US" sz="1200" dirty="0"/>
          </a:p>
        </p:txBody>
      </p:sp>
      <p:sp>
        <p:nvSpPr>
          <p:cNvPr id="17" name="Shape 14"/>
          <p:cNvSpPr/>
          <p:nvPr/>
        </p:nvSpPr>
        <p:spPr>
          <a:xfrm>
            <a:off x="7635240" y="4837176"/>
            <a:ext cx="4069080" cy="1005840"/>
          </a:xfrm>
          <a:prstGeom prst="rect">
            <a:avLst/>
          </a:prstGeom>
          <a:solidFill>
            <a:srgbClr val="FFFFFF"/>
          </a:solidFill>
          <a:ln w="12700">
            <a:solidFill>
              <a:srgbClr val="8A93A3"/>
            </a:solidFill>
            <a:prstDash val="dash"/>
          </a:ln>
        </p:spPr>
        <p:txBody>
          <a:bodyPr/>
          <a:lstStyle/>
          <a:p>
            <a:r>
              <a:rPr lang="en-US" dirty="0"/>
              <a:t>This is a recognizable state issued plate and meets standard state issued plate criteria. </a:t>
            </a:r>
          </a:p>
        </p:txBody>
      </p:sp>
      <p:sp>
        <p:nvSpPr>
          <p:cNvPr id="19" name="Shape 16"/>
          <p:cNvSpPr/>
          <p:nvPr/>
        </p:nvSpPr>
        <p:spPr>
          <a:xfrm>
            <a:off x="457200" y="5349240"/>
            <a:ext cx="2011680" cy="365760"/>
          </a:xfrm>
          <a:prstGeom prst="roundRect">
            <a:avLst>
              <a:gd name="adj" fmla="val 15000"/>
            </a:avLst>
          </a:prstGeom>
          <a:solidFill>
            <a:srgbClr val="EAF1FE"/>
          </a:solidFill>
          <a:ln w="12700">
            <a:solidFill>
              <a:srgbClr val="CADCFC"/>
            </a:solidFill>
            <a:prstDash val="solid"/>
          </a:ln>
        </p:spPr>
        <p:txBody>
          <a:bodyPr/>
          <a:lstStyle/>
          <a:p>
            <a:endParaRPr lang="en-US"/>
          </a:p>
        </p:txBody>
      </p:sp>
      <p:sp>
        <p:nvSpPr>
          <p:cNvPr id="20" name="Text 17"/>
          <p:cNvSpPr/>
          <p:nvPr/>
        </p:nvSpPr>
        <p:spPr>
          <a:xfrm>
            <a:off x="457200" y="5349240"/>
            <a:ext cx="2011680" cy="36576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Texas Plate 3 of 8</a:t>
            </a:r>
            <a:endParaRPr lang="en-US" sz="1100" dirty="0"/>
          </a:p>
        </p:txBody>
      </p:sp>
      <p:sp>
        <p:nvSpPr>
          <p:cNvPr id="21" name="Text 18"/>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A93A3"/>
                </a:solidFill>
                <a:latin typeface="Calibri" pitchFamily="34" charset="0"/>
                <a:ea typeface="Calibri" pitchFamily="34" charset="-122"/>
                <a:cs typeface="Calibri" pitchFamily="34" charset="-120"/>
              </a:rPr>
              <a:t>Vanity Plates Training</a:t>
            </a:r>
            <a:endParaRPr lang="en-US" sz="1000" dirty="0"/>
          </a:p>
        </p:txBody>
      </p:sp>
      <p:sp>
        <p:nvSpPr>
          <p:cNvPr id="22" name="Text 19"/>
          <p:cNvSpPr/>
          <p:nvPr/>
        </p:nvSpPr>
        <p:spPr>
          <a:xfrm>
            <a:off x="11277295" y="6537960"/>
            <a:ext cx="457200" cy="274320"/>
          </a:xfrm>
          <a:prstGeom prst="rect">
            <a:avLst/>
          </a:prstGeom>
          <a:noFill/>
          <a:ln/>
        </p:spPr>
        <p:txBody>
          <a:bodyPr wrap="square" rtlCol="0" anchor="ctr"/>
          <a:lstStyle/>
          <a:p>
            <a:pPr marL="0" indent="0" algn="r">
              <a:buNone/>
            </a:pPr>
            <a:r>
              <a:rPr lang="en-US" sz="1000" dirty="0">
                <a:solidFill>
                  <a:srgbClr val="8A93A3"/>
                </a:solidFill>
                <a:latin typeface="Calibri" pitchFamily="34" charset="0"/>
                <a:ea typeface="Calibri" pitchFamily="34" charset="-122"/>
                <a:cs typeface="Calibri" pitchFamily="34" charset="-120"/>
              </a:rPr>
              <a:t>12</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E2761"/>
          </a:solidFill>
          <a:ln/>
        </p:spPr>
        <p:txBody>
          <a:bodyPr/>
          <a:lstStyle/>
          <a:p>
            <a:endParaRPr lang="en-US"/>
          </a:p>
        </p:txBody>
      </p:sp>
      <p:sp>
        <p:nvSpPr>
          <p:cNvPr id="3" name="Text 1"/>
          <p:cNvSpPr/>
          <p:nvPr/>
        </p:nvSpPr>
        <p:spPr>
          <a:xfrm>
            <a:off x="1051560" y="320040"/>
            <a:ext cx="7315200" cy="274320"/>
          </a:xfrm>
          <a:prstGeom prst="rect">
            <a:avLst/>
          </a:prstGeom>
          <a:noFill/>
          <a:ln/>
        </p:spPr>
        <p:txBody>
          <a:bodyPr wrap="square" rtlCol="0" anchor="ctr"/>
          <a:lstStyle/>
          <a:p>
            <a:pPr marL="0" indent="0">
              <a:buNone/>
            </a:pPr>
            <a:r>
              <a:rPr lang="en-US" sz="1200" b="1" kern="0" spc="150" dirty="0">
                <a:solidFill>
                  <a:srgbClr val="1E2761"/>
                </a:solidFill>
                <a:latin typeface="Calibri" pitchFamily="34" charset="0"/>
                <a:ea typeface="Calibri" pitchFamily="34" charset="-122"/>
                <a:cs typeface="Calibri" pitchFamily="34" charset="-120"/>
              </a:rPr>
              <a:t>TEXAS PLATE 4</a:t>
            </a:r>
            <a:endParaRPr lang="en-US" sz="1200" dirty="0"/>
          </a:p>
        </p:txBody>
      </p:sp>
      <p:sp>
        <p:nvSpPr>
          <p:cNvPr id="4" name="Text 2"/>
          <p:cNvSpPr/>
          <p:nvPr/>
        </p:nvSpPr>
        <p:spPr>
          <a:xfrm>
            <a:off x="1051560" y="566928"/>
            <a:ext cx="10241280" cy="548640"/>
          </a:xfrm>
          <a:prstGeom prst="rect">
            <a:avLst/>
          </a:prstGeom>
          <a:noFill/>
          <a:ln/>
        </p:spPr>
        <p:txBody>
          <a:bodyPr wrap="square" rtlCol="0" anchor="ctr"/>
          <a:lstStyle/>
          <a:p>
            <a:pPr marL="0" indent="0">
              <a:buNone/>
            </a:pPr>
            <a:r>
              <a:rPr lang="en-US" sz="2800" b="1" dirty="0">
                <a:solidFill>
                  <a:srgbClr val="141A45"/>
                </a:solidFill>
                <a:latin typeface="Cambria" pitchFamily="34" charset="0"/>
                <a:ea typeface="Cambria" pitchFamily="34" charset="-122"/>
                <a:cs typeface="Cambria" pitchFamily="34" charset="-120"/>
              </a:rPr>
              <a:t>Identify the Character(s)</a:t>
            </a:r>
            <a:endParaRPr lang="en-US" sz="2800" dirty="0"/>
          </a:p>
        </p:txBody>
      </p:sp>
      <p:sp>
        <p:nvSpPr>
          <p:cNvPr id="5" name="Shape 3"/>
          <p:cNvSpPr/>
          <p:nvPr/>
        </p:nvSpPr>
        <p:spPr>
          <a:xfrm>
            <a:off x="457200" y="1554480"/>
            <a:ext cx="6949440" cy="3657600"/>
          </a:xfrm>
          <a:prstGeom prst="rect">
            <a:avLst/>
          </a:prstGeom>
          <a:solidFill>
            <a:srgbClr val="F4F6FA"/>
          </a:solidFill>
          <a:ln w="12700">
            <a:solidFill>
              <a:srgbClr val="CADCFC"/>
            </a:solidFill>
            <a:prstDash val="solid"/>
          </a:ln>
        </p:spPr>
        <p:txBody>
          <a:bodyPr/>
          <a:lstStyle/>
          <a:p>
            <a:endParaRPr lang="en-US"/>
          </a:p>
        </p:txBody>
      </p:sp>
      <p:pic>
        <p:nvPicPr>
          <p:cNvPr id="6" name="Image 0" descr="/home/claude/vanity_deck/images/1788355753948_image.png"/>
          <p:cNvPicPr>
            <a:picLocks noChangeAspect="1"/>
          </p:cNvPicPr>
          <p:nvPr/>
        </p:nvPicPr>
        <p:blipFill>
          <a:blip r:embed="rId3"/>
          <a:stretch>
            <a:fillRect/>
          </a:stretch>
        </p:blipFill>
        <p:spPr>
          <a:xfrm>
            <a:off x="640080" y="1737360"/>
            <a:ext cx="6583680" cy="3291840"/>
          </a:xfrm>
          <a:prstGeom prst="rect">
            <a:avLst/>
          </a:prstGeom>
        </p:spPr>
      </p:pic>
      <p:sp>
        <p:nvSpPr>
          <p:cNvPr id="7" name="Text 4"/>
          <p:cNvSpPr/>
          <p:nvPr/>
        </p:nvSpPr>
        <p:spPr>
          <a:xfrm>
            <a:off x="7635240" y="1554480"/>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State / Plate Type:</a:t>
            </a:r>
            <a:endParaRPr lang="en-US" sz="1200" dirty="0"/>
          </a:p>
        </p:txBody>
      </p:sp>
      <p:sp>
        <p:nvSpPr>
          <p:cNvPr id="8" name="Shape 5"/>
          <p:cNvSpPr/>
          <p:nvPr/>
        </p:nvSpPr>
        <p:spPr>
          <a:xfrm>
            <a:off x="7635240" y="1847088"/>
            <a:ext cx="4069080" cy="502920"/>
          </a:xfrm>
          <a:prstGeom prst="rect">
            <a:avLst/>
          </a:prstGeom>
          <a:solidFill>
            <a:srgbClr val="FFFFFF"/>
          </a:solidFill>
          <a:ln w="12700">
            <a:solidFill>
              <a:srgbClr val="8A93A3"/>
            </a:solidFill>
            <a:prstDash val="dash"/>
          </a:ln>
        </p:spPr>
        <p:txBody>
          <a:bodyPr/>
          <a:lstStyle/>
          <a:p>
            <a:r>
              <a:rPr lang="en-US" dirty="0"/>
              <a:t>TEXAS</a:t>
            </a:r>
          </a:p>
        </p:txBody>
      </p:sp>
      <p:sp>
        <p:nvSpPr>
          <p:cNvPr id="10" name="Text 7"/>
          <p:cNvSpPr/>
          <p:nvPr/>
        </p:nvSpPr>
        <p:spPr>
          <a:xfrm>
            <a:off x="7635240" y="2551176"/>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Character(s) in Question:</a:t>
            </a:r>
            <a:endParaRPr lang="en-US" sz="1200" dirty="0"/>
          </a:p>
        </p:txBody>
      </p:sp>
      <p:sp>
        <p:nvSpPr>
          <p:cNvPr id="11" name="Shape 8"/>
          <p:cNvSpPr/>
          <p:nvPr/>
        </p:nvSpPr>
        <p:spPr>
          <a:xfrm>
            <a:off x="7635240" y="2843784"/>
            <a:ext cx="4069080" cy="502920"/>
          </a:xfrm>
          <a:prstGeom prst="rect">
            <a:avLst/>
          </a:prstGeom>
          <a:solidFill>
            <a:srgbClr val="FFFFFF"/>
          </a:solidFill>
          <a:ln w="12700">
            <a:solidFill>
              <a:srgbClr val="8A93A3"/>
            </a:solidFill>
            <a:prstDash val="dash"/>
          </a:ln>
        </p:spPr>
        <p:txBody>
          <a:bodyPr/>
          <a:lstStyle/>
          <a:p>
            <a:r>
              <a:rPr lang="en-US" dirty="0"/>
              <a:t>DDS?1</a:t>
            </a:r>
          </a:p>
        </p:txBody>
      </p:sp>
      <p:sp>
        <p:nvSpPr>
          <p:cNvPr id="13" name="Text 10"/>
          <p:cNvSpPr/>
          <p:nvPr/>
        </p:nvSpPr>
        <p:spPr>
          <a:xfrm>
            <a:off x="7635240" y="3547872"/>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Verdict — Letter O or Digit 0:</a:t>
            </a:r>
            <a:endParaRPr lang="en-US" sz="1200" dirty="0"/>
          </a:p>
        </p:txBody>
      </p:sp>
      <p:sp>
        <p:nvSpPr>
          <p:cNvPr id="14" name="Shape 11"/>
          <p:cNvSpPr/>
          <p:nvPr/>
        </p:nvSpPr>
        <p:spPr>
          <a:xfrm>
            <a:off x="7635240" y="3840480"/>
            <a:ext cx="4069080" cy="502920"/>
          </a:xfrm>
          <a:prstGeom prst="rect">
            <a:avLst/>
          </a:prstGeom>
          <a:solidFill>
            <a:srgbClr val="FFFFFF"/>
          </a:solidFill>
          <a:ln w="12700">
            <a:solidFill>
              <a:srgbClr val="8A93A3"/>
            </a:solidFill>
            <a:prstDash val="dash"/>
          </a:ln>
        </p:spPr>
        <p:txBody>
          <a:bodyPr/>
          <a:lstStyle/>
          <a:p>
            <a:r>
              <a:rPr lang="en-US" dirty="0"/>
              <a:t>This is the NUMBER 0: DDS01</a:t>
            </a:r>
          </a:p>
        </p:txBody>
      </p:sp>
      <p:sp>
        <p:nvSpPr>
          <p:cNvPr id="16" name="Text 13"/>
          <p:cNvSpPr/>
          <p:nvPr/>
        </p:nvSpPr>
        <p:spPr>
          <a:xfrm>
            <a:off x="7635240" y="4544568"/>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Reasoning / Teaching Point:</a:t>
            </a:r>
            <a:endParaRPr lang="en-US" sz="1200" dirty="0"/>
          </a:p>
        </p:txBody>
      </p:sp>
      <p:sp>
        <p:nvSpPr>
          <p:cNvPr id="17" name="Shape 14"/>
          <p:cNvSpPr/>
          <p:nvPr/>
        </p:nvSpPr>
        <p:spPr>
          <a:xfrm>
            <a:off x="7635240" y="4837176"/>
            <a:ext cx="4069080" cy="1005840"/>
          </a:xfrm>
          <a:prstGeom prst="rect">
            <a:avLst/>
          </a:prstGeom>
          <a:solidFill>
            <a:srgbClr val="FFFFFF"/>
          </a:solidFill>
          <a:ln w="12700">
            <a:solidFill>
              <a:srgbClr val="8A93A3"/>
            </a:solidFill>
            <a:prstDash val="dash"/>
          </a:ln>
        </p:spPr>
        <p:txBody>
          <a:bodyPr/>
          <a:lstStyle/>
          <a:p>
            <a:r>
              <a:rPr lang="en-US" dirty="0"/>
              <a:t>Since the 0 character is next to another number, it would be best judgment to use the number Zero.</a:t>
            </a:r>
          </a:p>
        </p:txBody>
      </p:sp>
      <p:sp>
        <p:nvSpPr>
          <p:cNvPr id="19" name="Shape 16"/>
          <p:cNvSpPr/>
          <p:nvPr/>
        </p:nvSpPr>
        <p:spPr>
          <a:xfrm>
            <a:off x="457200" y="5349240"/>
            <a:ext cx="2011680" cy="365760"/>
          </a:xfrm>
          <a:prstGeom prst="roundRect">
            <a:avLst>
              <a:gd name="adj" fmla="val 15000"/>
            </a:avLst>
          </a:prstGeom>
          <a:solidFill>
            <a:srgbClr val="EAF1FE"/>
          </a:solidFill>
          <a:ln w="12700">
            <a:solidFill>
              <a:srgbClr val="CADCFC"/>
            </a:solidFill>
            <a:prstDash val="solid"/>
          </a:ln>
        </p:spPr>
        <p:txBody>
          <a:bodyPr/>
          <a:lstStyle/>
          <a:p>
            <a:endParaRPr lang="en-US"/>
          </a:p>
        </p:txBody>
      </p:sp>
      <p:sp>
        <p:nvSpPr>
          <p:cNvPr id="20" name="Text 17"/>
          <p:cNvSpPr/>
          <p:nvPr/>
        </p:nvSpPr>
        <p:spPr>
          <a:xfrm>
            <a:off x="457200" y="5349240"/>
            <a:ext cx="2011680" cy="36576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Texas Plate 4 of 8</a:t>
            </a:r>
            <a:endParaRPr lang="en-US" sz="1100" dirty="0"/>
          </a:p>
        </p:txBody>
      </p:sp>
      <p:sp>
        <p:nvSpPr>
          <p:cNvPr id="21" name="Text 18"/>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A93A3"/>
                </a:solidFill>
                <a:latin typeface="Calibri" pitchFamily="34" charset="0"/>
                <a:ea typeface="Calibri" pitchFamily="34" charset="-122"/>
                <a:cs typeface="Calibri" pitchFamily="34" charset="-120"/>
              </a:rPr>
              <a:t>Vanity Plates Training</a:t>
            </a:r>
            <a:endParaRPr lang="en-US" sz="1000" dirty="0"/>
          </a:p>
        </p:txBody>
      </p:sp>
      <p:sp>
        <p:nvSpPr>
          <p:cNvPr id="22" name="Text 19"/>
          <p:cNvSpPr/>
          <p:nvPr/>
        </p:nvSpPr>
        <p:spPr>
          <a:xfrm>
            <a:off x="11277295" y="6537960"/>
            <a:ext cx="457200" cy="274320"/>
          </a:xfrm>
          <a:prstGeom prst="rect">
            <a:avLst/>
          </a:prstGeom>
          <a:noFill/>
          <a:ln/>
        </p:spPr>
        <p:txBody>
          <a:bodyPr wrap="square" rtlCol="0" anchor="ctr"/>
          <a:lstStyle/>
          <a:p>
            <a:pPr marL="0" indent="0" algn="r">
              <a:buNone/>
            </a:pPr>
            <a:r>
              <a:rPr lang="en-US" sz="1000" dirty="0">
                <a:solidFill>
                  <a:srgbClr val="8A93A3"/>
                </a:solidFill>
                <a:latin typeface="Calibri" pitchFamily="34" charset="0"/>
                <a:ea typeface="Calibri" pitchFamily="34" charset="-122"/>
                <a:cs typeface="Calibri" pitchFamily="34" charset="-120"/>
              </a:rPr>
              <a:t>9</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E2761"/>
          </a:solidFill>
          <a:ln/>
        </p:spPr>
        <p:txBody>
          <a:bodyPr/>
          <a:lstStyle/>
          <a:p>
            <a:endParaRPr lang="en-US"/>
          </a:p>
        </p:txBody>
      </p:sp>
      <p:sp>
        <p:nvSpPr>
          <p:cNvPr id="3" name="Text 1"/>
          <p:cNvSpPr/>
          <p:nvPr/>
        </p:nvSpPr>
        <p:spPr>
          <a:xfrm>
            <a:off x="1051560" y="320040"/>
            <a:ext cx="7315200" cy="274320"/>
          </a:xfrm>
          <a:prstGeom prst="rect">
            <a:avLst/>
          </a:prstGeom>
          <a:noFill/>
          <a:ln/>
        </p:spPr>
        <p:txBody>
          <a:bodyPr wrap="square" rtlCol="0" anchor="ctr"/>
          <a:lstStyle/>
          <a:p>
            <a:pPr marL="0" indent="0">
              <a:buNone/>
            </a:pPr>
            <a:r>
              <a:rPr lang="en-US" sz="1200" b="1" kern="0" spc="150" dirty="0">
                <a:solidFill>
                  <a:srgbClr val="1E2761"/>
                </a:solidFill>
                <a:latin typeface="Calibri" pitchFamily="34" charset="0"/>
                <a:ea typeface="Calibri" pitchFamily="34" charset="-122"/>
                <a:cs typeface="Calibri" pitchFamily="34" charset="-120"/>
              </a:rPr>
              <a:t>TEXAS PLATE 5</a:t>
            </a:r>
            <a:endParaRPr lang="en-US" sz="1200" dirty="0"/>
          </a:p>
        </p:txBody>
      </p:sp>
      <p:sp>
        <p:nvSpPr>
          <p:cNvPr id="4" name="Text 2"/>
          <p:cNvSpPr/>
          <p:nvPr/>
        </p:nvSpPr>
        <p:spPr>
          <a:xfrm>
            <a:off x="1051560" y="566928"/>
            <a:ext cx="10241280" cy="548640"/>
          </a:xfrm>
          <a:prstGeom prst="rect">
            <a:avLst/>
          </a:prstGeom>
          <a:noFill/>
          <a:ln/>
        </p:spPr>
        <p:txBody>
          <a:bodyPr wrap="square" rtlCol="0" anchor="ctr"/>
          <a:lstStyle/>
          <a:p>
            <a:pPr marL="0" indent="0">
              <a:buNone/>
            </a:pPr>
            <a:r>
              <a:rPr lang="en-US" sz="2800" b="1" dirty="0">
                <a:solidFill>
                  <a:srgbClr val="141A45"/>
                </a:solidFill>
                <a:latin typeface="Cambria" pitchFamily="34" charset="0"/>
                <a:ea typeface="Cambria" pitchFamily="34" charset="-122"/>
                <a:cs typeface="Cambria" pitchFamily="34" charset="-120"/>
              </a:rPr>
              <a:t>Identify the Character(s)</a:t>
            </a:r>
            <a:endParaRPr lang="en-US" sz="2800" dirty="0"/>
          </a:p>
        </p:txBody>
      </p:sp>
      <p:sp>
        <p:nvSpPr>
          <p:cNvPr id="5" name="Shape 3"/>
          <p:cNvSpPr/>
          <p:nvPr/>
        </p:nvSpPr>
        <p:spPr>
          <a:xfrm>
            <a:off x="457200" y="1554480"/>
            <a:ext cx="6949440" cy="3657600"/>
          </a:xfrm>
          <a:prstGeom prst="rect">
            <a:avLst/>
          </a:prstGeom>
          <a:solidFill>
            <a:srgbClr val="F4F6FA"/>
          </a:solidFill>
          <a:ln w="12700">
            <a:solidFill>
              <a:srgbClr val="CADCFC"/>
            </a:solidFill>
            <a:prstDash val="solid"/>
          </a:ln>
        </p:spPr>
        <p:txBody>
          <a:bodyPr/>
          <a:lstStyle/>
          <a:p>
            <a:endParaRPr lang="en-US"/>
          </a:p>
        </p:txBody>
      </p:sp>
      <p:pic>
        <p:nvPicPr>
          <p:cNvPr id="6" name="Image 0" descr="/home/claude/vanity_deck/images/1788355773148_image.png"/>
          <p:cNvPicPr>
            <a:picLocks noChangeAspect="1"/>
          </p:cNvPicPr>
          <p:nvPr/>
        </p:nvPicPr>
        <p:blipFill>
          <a:blip r:embed="rId3"/>
          <a:stretch>
            <a:fillRect/>
          </a:stretch>
        </p:blipFill>
        <p:spPr>
          <a:xfrm>
            <a:off x="594360" y="2006893"/>
            <a:ext cx="6675120" cy="2752774"/>
          </a:xfrm>
          <a:prstGeom prst="rect">
            <a:avLst/>
          </a:prstGeom>
        </p:spPr>
      </p:pic>
      <p:sp>
        <p:nvSpPr>
          <p:cNvPr id="7" name="Text 4"/>
          <p:cNvSpPr/>
          <p:nvPr/>
        </p:nvSpPr>
        <p:spPr>
          <a:xfrm>
            <a:off x="7635240" y="1554480"/>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State / Plate Type:</a:t>
            </a:r>
            <a:endParaRPr lang="en-US" sz="1200" dirty="0"/>
          </a:p>
        </p:txBody>
      </p:sp>
      <p:sp>
        <p:nvSpPr>
          <p:cNvPr id="8" name="Shape 5"/>
          <p:cNvSpPr/>
          <p:nvPr/>
        </p:nvSpPr>
        <p:spPr>
          <a:xfrm>
            <a:off x="7635240" y="1847088"/>
            <a:ext cx="4069080" cy="502920"/>
          </a:xfrm>
          <a:prstGeom prst="rect">
            <a:avLst/>
          </a:prstGeom>
          <a:solidFill>
            <a:srgbClr val="FFFFFF"/>
          </a:solidFill>
          <a:ln w="12700">
            <a:solidFill>
              <a:srgbClr val="8A93A3"/>
            </a:solidFill>
            <a:prstDash val="dash"/>
          </a:ln>
        </p:spPr>
        <p:txBody>
          <a:bodyPr/>
          <a:lstStyle/>
          <a:p>
            <a:r>
              <a:rPr lang="en-US" dirty="0"/>
              <a:t>TEXAS</a:t>
            </a:r>
          </a:p>
        </p:txBody>
      </p:sp>
      <p:sp>
        <p:nvSpPr>
          <p:cNvPr id="10" name="Text 7"/>
          <p:cNvSpPr/>
          <p:nvPr/>
        </p:nvSpPr>
        <p:spPr>
          <a:xfrm>
            <a:off x="7635240" y="2551176"/>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Character(s) in Question:</a:t>
            </a:r>
            <a:endParaRPr lang="en-US" sz="1200" dirty="0"/>
          </a:p>
        </p:txBody>
      </p:sp>
      <p:sp>
        <p:nvSpPr>
          <p:cNvPr id="11" name="Shape 8"/>
          <p:cNvSpPr/>
          <p:nvPr/>
        </p:nvSpPr>
        <p:spPr>
          <a:xfrm>
            <a:off x="7635240" y="2843784"/>
            <a:ext cx="4069080" cy="502920"/>
          </a:xfrm>
          <a:prstGeom prst="rect">
            <a:avLst/>
          </a:prstGeom>
          <a:solidFill>
            <a:srgbClr val="FFFFFF"/>
          </a:solidFill>
          <a:ln w="12700">
            <a:solidFill>
              <a:srgbClr val="8A93A3"/>
            </a:solidFill>
            <a:prstDash val="dash"/>
          </a:ln>
        </p:spPr>
        <p:txBody>
          <a:bodyPr/>
          <a:lstStyle/>
          <a:p>
            <a:r>
              <a:rPr lang="en-US" dirty="0"/>
              <a:t>?C2KC</a:t>
            </a:r>
          </a:p>
        </p:txBody>
      </p:sp>
      <p:sp>
        <p:nvSpPr>
          <p:cNvPr id="13" name="Text 10"/>
          <p:cNvSpPr/>
          <p:nvPr/>
        </p:nvSpPr>
        <p:spPr>
          <a:xfrm>
            <a:off x="7635240" y="3547872"/>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Verdict — Letter O or Digit 0:</a:t>
            </a:r>
            <a:endParaRPr lang="en-US" sz="1200" dirty="0"/>
          </a:p>
        </p:txBody>
      </p:sp>
      <p:sp>
        <p:nvSpPr>
          <p:cNvPr id="14" name="Shape 11"/>
          <p:cNvSpPr/>
          <p:nvPr/>
        </p:nvSpPr>
        <p:spPr>
          <a:xfrm>
            <a:off x="7635240" y="3840480"/>
            <a:ext cx="4069080" cy="502920"/>
          </a:xfrm>
          <a:prstGeom prst="rect">
            <a:avLst/>
          </a:prstGeom>
          <a:solidFill>
            <a:srgbClr val="FFFFFF"/>
          </a:solidFill>
          <a:ln w="12700">
            <a:solidFill>
              <a:srgbClr val="8A93A3"/>
            </a:solidFill>
            <a:prstDash val="dash"/>
          </a:ln>
        </p:spPr>
        <p:txBody>
          <a:bodyPr/>
          <a:lstStyle/>
          <a:p>
            <a:r>
              <a:rPr lang="en-US" dirty="0"/>
              <a:t>This is the LETTER O: OC2KC</a:t>
            </a:r>
          </a:p>
        </p:txBody>
      </p:sp>
      <p:sp>
        <p:nvSpPr>
          <p:cNvPr id="16" name="Text 13"/>
          <p:cNvSpPr/>
          <p:nvPr/>
        </p:nvSpPr>
        <p:spPr>
          <a:xfrm>
            <a:off x="7635240" y="4544568"/>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Reasoning / Teaching Point:</a:t>
            </a:r>
            <a:endParaRPr lang="en-US" sz="1200" dirty="0"/>
          </a:p>
        </p:txBody>
      </p:sp>
      <p:sp>
        <p:nvSpPr>
          <p:cNvPr id="17" name="Shape 14"/>
          <p:cNvSpPr/>
          <p:nvPr/>
        </p:nvSpPr>
        <p:spPr>
          <a:xfrm>
            <a:off x="7635240" y="4837175"/>
            <a:ext cx="4069080" cy="1774639"/>
          </a:xfrm>
          <a:prstGeom prst="rect">
            <a:avLst/>
          </a:prstGeom>
          <a:solidFill>
            <a:srgbClr val="FFFFFF"/>
          </a:solidFill>
          <a:ln w="12700">
            <a:solidFill>
              <a:srgbClr val="8A93A3"/>
            </a:solidFill>
            <a:prstDash val="dash"/>
          </a:ln>
        </p:spPr>
        <p:txBody>
          <a:bodyPr/>
          <a:lstStyle/>
          <a:p>
            <a:r>
              <a:rPr lang="en-US" dirty="0"/>
              <a:t>There are no numbers around the O in question, and the Registration does not meet the Standard Issue Plate Criteria. (Using best judgement with context clues Is key!)</a:t>
            </a:r>
          </a:p>
        </p:txBody>
      </p:sp>
      <p:sp>
        <p:nvSpPr>
          <p:cNvPr id="19" name="Shape 16"/>
          <p:cNvSpPr/>
          <p:nvPr/>
        </p:nvSpPr>
        <p:spPr>
          <a:xfrm>
            <a:off x="457200" y="5349240"/>
            <a:ext cx="2011680" cy="365760"/>
          </a:xfrm>
          <a:prstGeom prst="roundRect">
            <a:avLst>
              <a:gd name="adj" fmla="val 15000"/>
            </a:avLst>
          </a:prstGeom>
          <a:solidFill>
            <a:srgbClr val="EAF1FE"/>
          </a:solidFill>
          <a:ln w="12700">
            <a:solidFill>
              <a:srgbClr val="CADCFC"/>
            </a:solidFill>
            <a:prstDash val="solid"/>
          </a:ln>
        </p:spPr>
        <p:txBody>
          <a:bodyPr/>
          <a:lstStyle/>
          <a:p>
            <a:endParaRPr lang="en-US"/>
          </a:p>
        </p:txBody>
      </p:sp>
      <p:sp>
        <p:nvSpPr>
          <p:cNvPr id="20" name="Text 17"/>
          <p:cNvSpPr/>
          <p:nvPr/>
        </p:nvSpPr>
        <p:spPr>
          <a:xfrm>
            <a:off x="457200" y="5349240"/>
            <a:ext cx="2011680" cy="36576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Texas Plate 5 of 8</a:t>
            </a:r>
            <a:endParaRPr lang="en-US" sz="1100" dirty="0"/>
          </a:p>
        </p:txBody>
      </p:sp>
      <p:sp>
        <p:nvSpPr>
          <p:cNvPr id="21" name="Text 18"/>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A93A3"/>
                </a:solidFill>
                <a:latin typeface="Calibri" pitchFamily="34" charset="0"/>
                <a:ea typeface="Calibri" pitchFamily="34" charset="-122"/>
                <a:cs typeface="Calibri" pitchFamily="34" charset="-120"/>
              </a:rPr>
              <a:t>Vanity Plates Training</a:t>
            </a:r>
            <a:endParaRPr lang="en-US" sz="1000" dirty="0"/>
          </a:p>
        </p:txBody>
      </p:sp>
      <p:sp>
        <p:nvSpPr>
          <p:cNvPr id="22" name="Text 19"/>
          <p:cNvSpPr/>
          <p:nvPr/>
        </p:nvSpPr>
        <p:spPr>
          <a:xfrm>
            <a:off x="11277295" y="6537960"/>
            <a:ext cx="457200" cy="274320"/>
          </a:xfrm>
          <a:prstGeom prst="rect">
            <a:avLst/>
          </a:prstGeom>
          <a:noFill/>
          <a:ln/>
        </p:spPr>
        <p:txBody>
          <a:bodyPr wrap="square" rtlCol="0" anchor="ctr"/>
          <a:lstStyle/>
          <a:p>
            <a:pPr marL="0" indent="0" algn="r">
              <a:buNone/>
            </a:pPr>
            <a:r>
              <a:rPr lang="en-US" sz="1000" dirty="0">
                <a:solidFill>
                  <a:srgbClr val="8A93A3"/>
                </a:solidFill>
                <a:latin typeface="Calibri" pitchFamily="34" charset="0"/>
                <a:ea typeface="Calibri" pitchFamily="34" charset="-122"/>
                <a:cs typeface="Calibri" pitchFamily="34" charset="-120"/>
              </a:rPr>
              <a:t>11</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D97706"/>
          </a:solidFill>
          <a:ln/>
        </p:spPr>
        <p:txBody>
          <a:bodyPr/>
          <a:lstStyle/>
          <a:p>
            <a:endParaRPr lang="en-US"/>
          </a:p>
        </p:txBody>
      </p:sp>
      <p:sp>
        <p:nvSpPr>
          <p:cNvPr id="3" name="Text 1"/>
          <p:cNvSpPr/>
          <p:nvPr/>
        </p:nvSpPr>
        <p:spPr>
          <a:xfrm>
            <a:off x="1051560" y="320040"/>
            <a:ext cx="7315200" cy="274320"/>
          </a:xfrm>
          <a:prstGeom prst="rect">
            <a:avLst/>
          </a:prstGeom>
          <a:noFill/>
          <a:ln/>
        </p:spPr>
        <p:txBody>
          <a:bodyPr wrap="square" rtlCol="0" anchor="ctr"/>
          <a:lstStyle/>
          <a:p>
            <a:pPr marL="0" indent="0">
              <a:buNone/>
            </a:pPr>
            <a:r>
              <a:rPr lang="en-US" sz="1200" b="1" kern="0" spc="150" dirty="0">
                <a:solidFill>
                  <a:srgbClr val="D97706"/>
                </a:solidFill>
                <a:latin typeface="Calibri" pitchFamily="34" charset="0"/>
                <a:ea typeface="Calibri" pitchFamily="34" charset="-122"/>
                <a:cs typeface="Calibri" pitchFamily="34" charset="-120"/>
              </a:rPr>
              <a:t>TEXAS PLATE 6</a:t>
            </a:r>
            <a:endParaRPr lang="en-US" sz="1200" dirty="0"/>
          </a:p>
        </p:txBody>
      </p:sp>
      <p:sp>
        <p:nvSpPr>
          <p:cNvPr id="4" name="Text 2"/>
          <p:cNvSpPr/>
          <p:nvPr/>
        </p:nvSpPr>
        <p:spPr>
          <a:xfrm>
            <a:off x="1051560" y="566928"/>
            <a:ext cx="10241280" cy="548640"/>
          </a:xfrm>
          <a:prstGeom prst="rect">
            <a:avLst/>
          </a:prstGeom>
          <a:noFill/>
          <a:ln/>
        </p:spPr>
        <p:txBody>
          <a:bodyPr wrap="square" rtlCol="0" anchor="ctr"/>
          <a:lstStyle/>
          <a:p>
            <a:pPr marL="0" indent="0">
              <a:buNone/>
            </a:pPr>
            <a:r>
              <a:rPr lang="en-US" sz="2800" b="1" dirty="0">
                <a:solidFill>
                  <a:srgbClr val="141A45"/>
                </a:solidFill>
                <a:latin typeface="Cambria" pitchFamily="34" charset="0"/>
                <a:ea typeface="Cambria" pitchFamily="34" charset="-122"/>
                <a:cs typeface="Cambria" pitchFamily="34" charset="-120"/>
              </a:rPr>
              <a:t>Identify the Character(s)</a:t>
            </a:r>
            <a:endParaRPr lang="en-US" sz="2800" dirty="0"/>
          </a:p>
        </p:txBody>
      </p:sp>
      <p:sp>
        <p:nvSpPr>
          <p:cNvPr id="5" name="Shape 3"/>
          <p:cNvSpPr/>
          <p:nvPr/>
        </p:nvSpPr>
        <p:spPr>
          <a:xfrm>
            <a:off x="457200" y="1554480"/>
            <a:ext cx="6949440" cy="3657600"/>
          </a:xfrm>
          <a:prstGeom prst="rect">
            <a:avLst/>
          </a:prstGeom>
          <a:solidFill>
            <a:srgbClr val="F4F6FA"/>
          </a:solidFill>
          <a:ln w="12700">
            <a:solidFill>
              <a:srgbClr val="CADCFC"/>
            </a:solidFill>
            <a:prstDash val="solid"/>
          </a:ln>
        </p:spPr>
        <p:txBody>
          <a:bodyPr/>
          <a:lstStyle/>
          <a:p>
            <a:endParaRPr lang="en-US"/>
          </a:p>
        </p:txBody>
      </p:sp>
      <p:pic>
        <p:nvPicPr>
          <p:cNvPr id="6" name="Image 0" descr="/home/claude/vanity_deck/images/1788355739051_image.png"/>
          <p:cNvPicPr>
            <a:picLocks noChangeAspect="1"/>
          </p:cNvPicPr>
          <p:nvPr/>
        </p:nvPicPr>
        <p:blipFill>
          <a:blip r:embed="rId3"/>
          <a:stretch>
            <a:fillRect/>
          </a:stretch>
        </p:blipFill>
        <p:spPr>
          <a:xfrm>
            <a:off x="594360" y="2923002"/>
            <a:ext cx="6675120" cy="920556"/>
          </a:xfrm>
          <a:prstGeom prst="rect">
            <a:avLst/>
          </a:prstGeom>
        </p:spPr>
      </p:pic>
      <p:sp>
        <p:nvSpPr>
          <p:cNvPr id="7" name="Text 4"/>
          <p:cNvSpPr/>
          <p:nvPr/>
        </p:nvSpPr>
        <p:spPr>
          <a:xfrm>
            <a:off x="7635240" y="1554480"/>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State / Plate Type:</a:t>
            </a:r>
            <a:endParaRPr lang="en-US" sz="1200" dirty="0"/>
          </a:p>
        </p:txBody>
      </p:sp>
      <p:sp>
        <p:nvSpPr>
          <p:cNvPr id="8" name="Shape 5"/>
          <p:cNvSpPr/>
          <p:nvPr/>
        </p:nvSpPr>
        <p:spPr>
          <a:xfrm>
            <a:off x="7635240" y="1847088"/>
            <a:ext cx="4069080" cy="502920"/>
          </a:xfrm>
          <a:prstGeom prst="rect">
            <a:avLst/>
          </a:prstGeom>
          <a:solidFill>
            <a:srgbClr val="FFFFFF"/>
          </a:solidFill>
          <a:ln w="12700">
            <a:solidFill>
              <a:srgbClr val="8A93A3"/>
            </a:solidFill>
            <a:prstDash val="dash"/>
          </a:ln>
        </p:spPr>
        <p:txBody>
          <a:bodyPr/>
          <a:lstStyle/>
          <a:p>
            <a:r>
              <a:rPr lang="en-US" dirty="0"/>
              <a:t>TEXAS</a:t>
            </a:r>
          </a:p>
        </p:txBody>
      </p:sp>
      <p:sp>
        <p:nvSpPr>
          <p:cNvPr id="10" name="Text 7"/>
          <p:cNvSpPr/>
          <p:nvPr/>
        </p:nvSpPr>
        <p:spPr>
          <a:xfrm>
            <a:off x="7635240" y="2551176"/>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Character(s) in Question:</a:t>
            </a:r>
            <a:endParaRPr lang="en-US" sz="1200" dirty="0"/>
          </a:p>
        </p:txBody>
      </p:sp>
      <p:sp>
        <p:nvSpPr>
          <p:cNvPr id="11" name="Shape 8"/>
          <p:cNvSpPr/>
          <p:nvPr/>
        </p:nvSpPr>
        <p:spPr>
          <a:xfrm>
            <a:off x="7635240" y="2843784"/>
            <a:ext cx="4069080" cy="502920"/>
          </a:xfrm>
          <a:prstGeom prst="rect">
            <a:avLst/>
          </a:prstGeom>
          <a:solidFill>
            <a:srgbClr val="FFFFFF"/>
          </a:solidFill>
          <a:ln w="12700">
            <a:solidFill>
              <a:srgbClr val="8A93A3"/>
            </a:solidFill>
            <a:prstDash val="dash"/>
          </a:ln>
        </p:spPr>
        <p:txBody>
          <a:bodyPr/>
          <a:lstStyle/>
          <a:p>
            <a:r>
              <a:rPr lang="en-US" dirty="0"/>
              <a:t>?1LCFC</a:t>
            </a:r>
          </a:p>
        </p:txBody>
      </p:sp>
      <p:sp>
        <p:nvSpPr>
          <p:cNvPr id="13" name="Text 10"/>
          <p:cNvSpPr/>
          <p:nvPr/>
        </p:nvSpPr>
        <p:spPr>
          <a:xfrm>
            <a:off x="7635240" y="3547872"/>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Verdict — Letter O or Digit 0:</a:t>
            </a:r>
            <a:endParaRPr lang="en-US" sz="1200" dirty="0"/>
          </a:p>
        </p:txBody>
      </p:sp>
      <p:sp>
        <p:nvSpPr>
          <p:cNvPr id="14" name="Shape 11"/>
          <p:cNvSpPr/>
          <p:nvPr/>
        </p:nvSpPr>
        <p:spPr>
          <a:xfrm>
            <a:off x="7635240" y="3840480"/>
            <a:ext cx="4069080" cy="502920"/>
          </a:xfrm>
          <a:prstGeom prst="rect">
            <a:avLst/>
          </a:prstGeom>
          <a:solidFill>
            <a:srgbClr val="FFFFFF"/>
          </a:solidFill>
          <a:ln w="12700">
            <a:solidFill>
              <a:srgbClr val="8A93A3"/>
            </a:solidFill>
            <a:prstDash val="dash"/>
          </a:ln>
        </p:spPr>
        <p:txBody>
          <a:bodyPr/>
          <a:lstStyle/>
          <a:p>
            <a:r>
              <a:rPr lang="en-US" dirty="0"/>
              <a:t>This is the NUMBER 0: 01LCFC</a:t>
            </a:r>
          </a:p>
          <a:p>
            <a:endParaRPr lang="en-US" dirty="0"/>
          </a:p>
        </p:txBody>
      </p:sp>
      <p:sp>
        <p:nvSpPr>
          <p:cNvPr id="16" name="Text 13"/>
          <p:cNvSpPr/>
          <p:nvPr/>
        </p:nvSpPr>
        <p:spPr>
          <a:xfrm>
            <a:off x="7635240" y="4544568"/>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Reasoning / Teaching Point:</a:t>
            </a:r>
            <a:endParaRPr lang="en-US" sz="1200" dirty="0"/>
          </a:p>
        </p:txBody>
      </p:sp>
      <p:sp>
        <p:nvSpPr>
          <p:cNvPr id="17" name="Shape 14"/>
          <p:cNvSpPr/>
          <p:nvPr/>
        </p:nvSpPr>
        <p:spPr>
          <a:xfrm>
            <a:off x="7635240" y="4837176"/>
            <a:ext cx="4069080" cy="1005840"/>
          </a:xfrm>
          <a:prstGeom prst="rect">
            <a:avLst/>
          </a:prstGeom>
          <a:solidFill>
            <a:srgbClr val="FFFFFF"/>
          </a:solidFill>
          <a:ln w="12700">
            <a:solidFill>
              <a:srgbClr val="8A93A3"/>
            </a:solidFill>
            <a:prstDash val="dash"/>
          </a:ln>
        </p:spPr>
        <p:txBody>
          <a:bodyPr/>
          <a:lstStyle/>
          <a:p>
            <a:r>
              <a:rPr lang="en-US" dirty="0"/>
              <a:t>Since the 0 character is next to another number, it would be best judgment to use the number Zero.</a:t>
            </a:r>
          </a:p>
        </p:txBody>
      </p:sp>
      <p:sp>
        <p:nvSpPr>
          <p:cNvPr id="19" name="Shape 16"/>
          <p:cNvSpPr/>
          <p:nvPr/>
        </p:nvSpPr>
        <p:spPr>
          <a:xfrm>
            <a:off x="457200" y="5349240"/>
            <a:ext cx="2011680" cy="365760"/>
          </a:xfrm>
          <a:prstGeom prst="roundRect">
            <a:avLst>
              <a:gd name="adj" fmla="val 15000"/>
            </a:avLst>
          </a:prstGeom>
          <a:solidFill>
            <a:srgbClr val="EAF1FE"/>
          </a:solidFill>
          <a:ln w="12700">
            <a:solidFill>
              <a:srgbClr val="CADCFC"/>
            </a:solidFill>
            <a:prstDash val="solid"/>
          </a:ln>
        </p:spPr>
        <p:txBody>
          <a:bodyPr/>
          <a:lstStyle/>
          <a:p>
            <a:endParaRPr lang="en-US"/>
          </a:p>
        </p:txBody>
      </p:sp>
      <p:sp>
        <p:nvSpPr>
          <p:cNvPr id="20" name="Text 17"/>
          <p:cNvSpPr/>
          <p:nvPr/>
        </p:nvSpPr>
        <p:spPr>
          <a:xfrm>
            <a:off x="457200" y="5349240"/>
            <a:ext cx="2011680" cy="36576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Texas Plate 6 of 8</a:t>
            </a:r>
            <a:endParaRPr lang="en-US" sz="1100" dirty="0"/>
          </a:p>
        </p:txBody>
      </p:sp>
      <p:sp>
        <p:nvSpPr>
          <p:cNvPr id="21" name="Text 18"/>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A93A3"/>
                </a:solidFill>
                <a:latin typeface="Calibri" pitchFamily="34" charset="0"/>
                <a:ea typeface="Calibri" pitchFamily="34" charset="-122"/>
                <a:cs typeface="Calibri" pitchFamily="34" charset="-120"/>
              </a:rPr>
              <a:t>Vanity Plates Training</a:t>
            </a:r>
            <a:endParaRPr lang="en-US" sz="1000" dirty="0"/>
          </a:p>
        </p:txBody>
      </p:sp>
      <p:sp>
        <p:nvSpPr>
          <p:cNvPr id="22" name="Text 19"/>
          <p:cNvSpPr/>
          <p:nvPr/>
        </p:nvSpPr>
        <p:spPr>
          <a:xfrm>
            <a:off x="11277295" y="6537960"/>
            <a:ext cx="457200" cy="274320"/>
          </a:xfrm>
          <a:prstGeom prst="rect">
            <a:avLst/>
          </a:prstGeom>
          <a:noFill/>
          <a:ln/>
        </p:spPr>
        <p:txBody>
          <a:bodyPr wrap="square" rtlCol="0" anchor="ctr"/>
          <a:lstStyle/>
          <a:p>
            <a:pPr marL="0" indent="0" algn="r">
              <a:buNone/>
            </a:pPr>
            <a:r>
              <a:rPr lang="en-US" sz="1000" dirty="0">
                <a:solidFill>
                  <a:srgbClr val="8A93A3"/>
                </a:solidFill>
                <a:latin typeface="Calibri" pitchFamily="34" charset="0"/>
                <a:ea typeface="Calibri" pitchFamily="34" charset="-122"/>
                <a:cs typeface="Calibri" pitchFamily="34" charset="-120"/>
              </a:rPr>
              <a:t>8</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D97706"/>
          </a:solidFill>
          <a:ln/>
        </p:spPr>
        <p:txBody>
          <a:bodyPr/>
          <a:lstStyle/>
          <a:p>
            <a:endParaRPr lang="en-US"/>
          </a:p>
        </p:txBody>
      </p:sp>
      <p:sp>
        <p:nvSpPr>
          <p:cNvPr id="3" name="Text 1"/>
          <p:cNvSpPr/>
          <p:nvPr/>
        </p:nvSpPr>
        <p:spPr>
          <a:xfrm>
            <a:off x="1051560" y="320040"/>
            <a:ext cx="7315200" cy="274320"/>
          </a:xfrm>
          <a:prstGeom prst="rect">
            <a:avLst/>
          </a:prstGeom>
          <a:noFill/>
          <a:ln/>
        </p:spPr>
        <p:txBody>
          <a:bodyPr wrap="square" rtlCol="0" anchor="ctr"/>
          <a:lstStyle/>
          <a:p>
            <a:pPr marL="0" indent="0">
              <a:buNone/>
            </a:pPr>
            <a:r>
              <a:rPr lang="en-US" sz="1200" b="1" kern="0" spc="150" dirty="0">
                <a:solidFill>
                  <a:srgbClr val="D97706"/>
                </a:solidFill>
                <a:latin typeface="Calibri" pitchFamily="34" charset="0"/>
                <a:ea typeface="Calibri" pitchFamily="34" charset="-122"/>
                <a:cs typeface="Calibri" pitchFamily="34" charset="-120"/>
              </a:rPr>
              <a:t>TEXAS PLATE 7</a:t>
            </a:r>
            <a:endParaRPr lang="en-US" sz="1200" dirty="0"/>
          </a:p>
        </p:txBody>
      </p:sp>
      <p:sp>
        <p:nvSpPr>
          <p:cNvPr id="4" name="Text 2"/>
          <p:cNvSpPr/>
          <p:nvPr/>
        </p:nvSpPr>
        <p:spPr>
          <a:xfrm>
            <a:off x="1051560" y="566928"/>
            <a:ext cx="10241280" cy="548640"/>
          </a:xfrm>
          <a:prstGeom prst="rect">
            <a:avLst/>
          </a:prstGeom>
          <a:noFill/>
          <a:ln/>
        </p:spPr>
        <p:txBody>
          <a:bodyPr wrap="square" rtlCol="0" anchor="ctr"/>
          <a:lstStyle/>
          <a:p>
            <a:pPr marL="0" indent="0">
              <a:buNone/>
            </a:pPr>
            <a:r>
              <a:rPr lang="en-US" sz="2800" b="1" dirty="0">
                <a:solidFill>
                  <a:srgbClr val="141A45"/>
                </a:solidFill>
                <a:latin typeface="Cambria" pitchFamily="34" charset="0"/>
                <a:ea typeface="Cambria" pitchFamily="34" charset="-122"/>
                <a:cs typeface="Cambria" pitchFamily="34" charset="-120"/>
              </a:rPr>
              <a:t>Identify the Character(s)</a:t>
            </a:r>
            <a:endParaRPr lang="en-US" sz="2800" dirty="0"/>
          </a:p>
        </p:txBody>
      </p:sp>
      <p:sp>
        <p:nvSpPr>
          <p:cNvPr id="5" name="Shape 3"/>
          <p:cNvSpPr/>
          <p:nvPr/>
        </p:nvSpPr>
        <p:spPr>
          <a:xfrm>
            <a:off x="457200" y="1554480"/>
            <a:ext cx="6949440" cy="3657600"/>
          </a:xfrm>
          <a:prstGeom prst="rect">
            <a:avLst/>
          </a:prstGeom>
          <a:solidFill>
            <a:srgbClr val="F4F6FA"/>
          </a:solidFill>
          <a:ln w="12700">
            <a:solidFill>
              <a:srgbClr val="CADCFC"/>
            </a:solidFill>
            <a:prstDash val="solid"/>
          </a:ln>
        </p:spPr>
        <p:txBody>
          <a:bodyPr/>
          <a:lstStyle/>
          <a:p>
            <a:endParaRPr lang="en-US"/>
          </a:p>
        </p:txBody>
      </p:sp>
      <p:pic>
        <p:nvPicPr>
          <p:cNvPr id="6" name="Image 0" descr="/home/claude/vanity_deck/images/1788355839440_image.png"/>
          <p:cNvPicPr>
            <a:picLocks noChangeAspect="1"/>
          </p:cNvPicPr>
          <p:nvPr/>
        </p:nvPicPr>
        <p:blipFill>
          <a:blip r:embed="rId3"/>
          <a:stretch>
            <a:fillRect/>
          </a:stretch>
        </p:blipFill>
        <p:spPr>
          <a:xfrm>
            <a:off x="594360" y="1970672"/>
            <a:ext cx="6675120" cy="2825215"/>
          </a:xfrm>
          <a:prstGeom prst="rect">
            <a:avLst/>
          </a:prstGeom>
        </p:spPr>
      </p:pic>
      <p:sp>
        <p:nvSpPr>
          <p:cNvPr id="7" name="Text 4"/>
          <p:cNvSpPr/>
          <p:nvPr/>
        </p:nvSpPr>
        <p:spPr>
          <a:xfrm>
            <a:off x="7635240" y="1554480"/>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State / Plate Type:</a:t>
            </a:r>
            <a:endParaRPr lang="en-US" sz="1200" dirty="0"/>
          </a:p>
        </p:txBody>
      </p:sp>
      <p:sp>
        <p:nvSpPr>
          <p:cNvPr id="8" name="Shape 5"/>
          <p:cNvSpPr/>
          <p:nvPr/>
        </p:nvSpPr>
        <p:spPr>
          <a:xfrm>
            <a:off x="7635240" y="1847088"/>
            <a:ext cx="4069080" cy="502920"/>
          </a:xfrm>
          <a:prstGeom prst="rect">
            <a:avLst/>
          </a:prstGeom>
          <a:solidFill>
            <a:srgbClr val="FFFFFF"/>
          </a:solidFill>
          <a:ln w="12700">
            <a:solidFill>
              <a:srgbClr val="8A93A3"/>
            </a:solidFill>
            <a:prstDash val="dash"/>
          </a:ln>
        </p:spPr>
        <p:txBody>
          <a:bodyPr/>
          <a:lstStyle/>
          <a:p>
            <a:r>
              <a:rPr lang="en-US" dirty="0"/>
              <a:t>TEXAS</a:t>
            </a:r>
          </a:p>
        </p:txBody>
      </p:sp>
      <p:sp>
        <p:nvSpPr>
          <p:cNvPr id="10" name="Text 7"/>
          <p:cNvSpPr/>
          <p:nvPr/>
        </p:nvSpPr>
        <p:spPr>
          <a:xfrm>
            <a:off x="7635240" y="2551176"/>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Character(s) in Question:</a:t>
            </a:r>
            <a:endParaRPr lang="en-US" sz="1200" dirty="0"/>
          </a:p>
        </p:txBody>
      </p:sp>
      <p:sp>
        <p:nvSpPr>
          <p:cNvPr id="11" name="Shape 8"/>
          <p:cNvSpPr/>
          <p:nvPr/>
        </p:nvSpPr>
        <p:spPr>
          <a:xfrm>
            <a:off x="7635240" y="2843784"/>
            <a:ext cx="4069080" cy="502920"/>
          </a:xfrm>
          <a:prstGeom prst="rect">
            <a:avLst/>
          </a:prstGeom>
          <a:solidFill>
            <a:srgbClr val="FFFFFF"/>
          </a:solidFill>
          <a:ln w="12700">
            <a:solidFill>
              <a:srgbClr val="8A93A3"/>
            </a:solidFill>
            <a:prstDash val="dash"/>
          </a:ln>
        </p:spPr>
        <p:txBody>
          <a:bodyPr/>
          <a:lstStyle/>
          <a:p>
            <a:r>
              <a:rPr lang="en-US" dirty="0"/>
              <a:t>DABAD??</a:t>
            </a:r>
          </a:p>
        </p:txBody>
      </p:sp>
      <p:sp>
        <p:nvSpPr>
          <p:cNvPr id="13" name="Text 10"/>
          <p:cNvSpPr/>
          <p:nvPr/>
        </p:nvSpPr>
        <p:spPr>
          <a:xfrm>
            <a:off x="7635240" y="3547872"/>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Verdict — Letter O or Digit 0:</a:t>
            </a:r>
            <a:endParaRPr lang="en-US" sz="1200" dirty="0"/>
          </a:p>
        </p:txBody>
      </p:sp>
      <p:sp>
        <p:nvSpPr>
          <p:cNvPr id="14" name="Shape 11"/>
          <p:cNvSpPr/>
          <p:nvPr/>
        </p:nvSpPr>
        <p:spPr>
          <a:xfrm>
            <a:off x="7635240" y="3840480"/>
            <a:ext cx="4069080" cy="502920"/>
          </a:xfrm>
          <a:prstGeom prst="rect">
            <a:avLst/>
          </a:prstGeom>
          <a:solidFill>
            <a:srgbClr val="FFFFFF"/>
          </a:solidFill>
          <a:ln w="12700">
            <a:solidFill>
              <a:srgbClr val="8A93A3"/>
            </a:solidFill>
            <a:prstDash val="dash"/>
          </a:ln>
        </p:spPr>
        <p:txBody>
          <a:bodyPr/>
          <a:lstStyle/>
          <a:p>
            <a:r>
              <a:rPr lang="en-US" dirty="0"/>
              <a:t>This is the LETTER O: DABADOO</a:t>
            </a:r>
          </a:p>
          <a:p>
            <a:endParaRPr lang="en-US" dirty="0"/>
          </a:p>
        </p:txBody>
      </p:sp>
      <p:sp>
        <p:nvSpPr>
          <p:cNvPr id="16" name="Text 13"/>
          <p:cNvSpPr/>
          <p:nvPr/>
        </p:nvSpPr>
        <p:spPr>
          <a:xfrm>
            <a:off x="7635240" y="4544568"/>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Reasoning / Teaching Point:</a:t>
            </a:r>
            <a:endParaRPr lang="en-US" sz="1200" dirty="0"/>
          </a:p>
        </p:txBody>
      </p:sp>
      <p:sp>
        <p:nvSpPr>
          <p:cNvPr id="17" name="Shape 14"/>
          <p:cNvSpPr/>
          <p:nvPr/>
        </p:nvSpPr>
        <p:spPr>
          <a:xfrm>
            <a:off x="7635240" y="4837175"/>
            <a:ext cx="4069080" cy="1524547"/>
          </a:xfrm>
          <a:prstGeom prst="rect">
            <a:avLst/>
          </a:prstGeom>
          <a:solidFill>
            <a:srgbClr val="FFFFFF"/>
          </a:solidFill>
          <a:ln w="12700">
            <a:solidFill>
              <a:srgbClr val="8A93A3"/>
            </a:solidFill>
            <a:prstDash val="dash"/>
          </a:ln>
        </p:spPr>
        <p:txBody>
          <a:bodyPr/>
          <a:lstStyle/>
          <a:p>
            <a:r>
              <a:rPr lang="en-US" dirty="0"/>
              <a:t>This plate is spelling out a word, all other characters are letters, no numbers around the character in question, Not meeting Stand Issue Plate Criteria, Custom Plate.</a:t>
            </a:r>
          </a:p>
        </p:txBody>
      </p:sp>
      <p:sp>
        <p:nvSpPr>
          <p:cNvPr id="19" name="Shape 16"/>
          <p:cNvSpPr/>
          <p:nvPr/>
        </p:nvSpPr>
        <p:spPr>
          <a:xfrm>
            <a:off x="457200" y="5349240"/>
            <a:ext cx="2011680" cy="365760"/>
          </a:xfrm>
          <a:prstGeom prst="roundRect">
            <a:avLst>
              <a:gd name="adj" fmla="val 15000"/>
            </a:avLst>
          </a:prstGeom>
          <a:solidFill>
            <a:srgbClr val="EAF1FE"/>
          </a:solidFill>
          <a:ln w="12700">
            <a:solidFill>
              <a:srgbClr val="CADCFC"/>
            </a:solidFill>
            <a:prstDash val="solid"/>
          </a:ln>
        </p:spPr>
        <p:txBody>
          <a:bodyPr/>
          <a:lstStyle/>
          <a:p>
            <a:endParaRPr lang="en-US"/>
          </a:p>
        </p:txBody>
      </p:sp>
      <p:sp>
        <p:nvSpPr>
          <p:cNvPr id="20" name="Text 17"/>
          <p:cNvSpPr/>
          <p:nvPr/>
        </p:nvSpPr>
        <p:spPr>
          <a:xfrm>
            <a:off x="457200" y="5349240"/>
            <a:ext cx="2011680" cy="36576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Texas Plate 7 of 8</a:t>
            </a:r>
            <a:endParaRPr lang="en-US" sz="1100" dirty="0"/>
          </a:p>
        </p:txBody>
      </p:sp>
      <p:sp>
        <p:nvSpPr>
          <p:cNvPr id="21" name="Text 18"/>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A93A3"/>
                </a:solidFill>
                <a:latin typeface="Calibri" pitchFamily="34" charset="0"/>
                <a:ea typeface="Calibri" pitchFamily="34" charset="-122"/>
                <a:cs typeface="Calibri" pitchFamily="34" charset="-120"/>
              </a:rPr>
              <a:t>Vanity Plates Training</a:t>
            </a:r>
            <a:endParaRPr lang="en-US" sz="1000" dirty="0"/>
          </a:p>
        </p:txBody>
      </p:sp>
      <p:sp>
        <p:nvSpPr>
          <p:cNvPr id="22" name="Text 19"/>
          <p:cNvSpPr/>
          <p:nvPr/>
        </p:nvSpPr>
        <p:spPr>
          <a:xfrm>
            <a:off x="11277295" y="6537960"/>
            <a:ext cx="457200" cy="274320"/>
          </a:xfrm>
          <a:prstGeom prst="rect">
            <a:avLst/>
          </a:prstGeom>
          <a:noFill/>
          <a:ln/>
        </p:spPr>
        <p:txBody>
          <a:bodyPr wrap="square" rtlCol="0" anchor="ctr"/>
          <a:lstStyle/>
          <a:p>
            <a:pPr marL="0" indent="0" algn="r">
              <a:buNone/>
            </a:pPr>
            <a:r>
              <a:rPr lang="en-US" sz="1000" dirty="0">
                <a:solidFill>
                  <a:srgbClr val="8A93A3"/>
                </a:solidFill>
                <a:latin typeface="Calibri" pitchFamily="34" charset="0"/>
                <a:ea typeface="Calibri" pitchFamily="34" charset="-122"/>
                <a:cs typeface="Calibri" pitchFamily="34" charset="-120"/>
              </a:rPr>
              <a:t>14</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E2761"/>
          </a:solidFill>
          <a:ln/>
        </p:spPr>
        <p:txBody>
          <a:bodyPr/>
          <a:lstStyle/>
          <a:p>
            <a:endParaRPr lang="en-US"/>
          </a:p>
        </p:txBody>
      </p:sp>
      <p:sp>
        <p:nvSpPr>
          <p:cNvPr id="3" name="Text 1"/>
          <p:cNvSpPr/>
          <p:nvPr/>
        </p:nvSpPr>
        <p:spPr>
          <a:xfrm>
            <a:off x="1051560" y="320040"/>
            <a:ext cx="7315200" cy="274320"/>
          </a:xfrm>
          <a:prstGeom prst="rect">
            <a:avLst/>
          </a:prstGeom>
          <a:noFill/>
          <a:ln/>
        </p:spPr>
        <p:txBody>
          <a:bodyPr wrap="square" rtlCol="0" anchor="ctr"/>
          <a:lstStyle/>
          <a:p>
            <a:pPr marL="0" indent="0">
              <a:buNone/>
            </a:pPr>
            <a:r>
              <a:rPr lang="en-US" sz="1200" b="1" kern="0" spc="150" dirty="0">
                <a:solidFill>
                  <a:srgbClr val="1E2761"/>
                </a:solidFill>
                <a:latin typeface="Calibri" pitchFamily="34" charset="0"/>
                <a:ea typeface="Calibri" pitchFamily="34" charset="-122"/>
                <a:cs typeface="Calibri" pitchFamily="34" charset="-120"/>
              </a:rPr>
              <a:t>TEXAS PLATE 8</a:t>
            </a:r>
            <a:endParaRPr lang="en-US" sz="1200" dirty="0"/>
          </a:p>
        </p:txBody>
      </p:sp>
      <p:sp>
        <p:nvSpPr>
          <p:cNvPr id="4" name="Text 2"/>
          <p:cNvSpPr/>
          <p:nvPr/>
        </p:nvSpPr>
        <p:spPr>
          <a:xfrm>
            <a:off x="1051560" y="566928"/>
            <a:ext cx="10241280" cy="548640"/>
          </a:xfrm>
          <a:prstGeom prst="rect">
            <a:avLst/>
          </a:prstGeom>
          <a:noFill/>
          <a:ln/>
        </p:spPr>
        <p:txBody>
          <a:bodyPr wrap="square" rtlCol="0" anchor="ctr"/>
          <a:lstStyle/>
          <a:p>
            <a:pPr marL="0" indent="0">
              <a:buNone/>
            </a:pPr>
            <a:r>
              <a:rPr lang="en-US" sz="2800" b="1" dirty="0">
                <a:solidFill>
                  <a:srgbClr val="141A45"/>
                </a:solidFill>
                <a:latin typeface="Cambria" pitchFamily="34" charset="0"/>
                <a:ea typeface="Cambria" pitchFamily="34" charset="-122"/>
                <a:cs typeface="Cambria" pitchFamily="34" charset="-120"/>
              </a:rPr>
              <a:t>Identify the Character(s)</a:t>
            </a:r>
            <a:endParaRPr lang="en-US" sz="2800" dirty="0"/>
          </a:p>
        </p:txBody>
      </p:sp>
      <p:sp>
        <p:nvSpPr>
          <p:cNvPr id="5" name="Shape 3"/>
          <p:cNvSpPr/>
          <p:nvPr/>
        </p:nvSpPr>
        <p:spPr>
          <a:xfrm>
            <a:off x="457200" y="1554480"/>
            <a:ext cx="6949440" cy="3657600"/>
          </a:xfrm>
          <a:prstGeom prst="rect">
            <a:avLst/>
          </a:prstGeom>
          <a:solidFill>
            <a:srgbClr val="F4F6FA"/>
          </a:solidFill>
          <a:ln w="12700">
            <a:solidFill>
              <a:srgbClr val="CADCFC"/>
            </a:solidFill>
            <a:prstDash val="solid"/>
          </a:ln>
        </p:spPr>
        <p:txBody>
          <a:bodyPr/>
          <a:lstStyle/>
          <a:p>
            <a:endParaRPr lang="en-US"/>
          </a:p>
        </p:txBody>
      </p:sp>
      <p:pic>
        <p:nvPicPr>
          <p:cNvPr id="6" name="Image 0" descr="/home/claude/vanity_deck/images/1788355796778_image.png"/>
          <p:cNvPicPr>
            <a:picLocks noChangeAspect="1"/>
          </p:cNvPicPr>
          <p:nvPr/>
        </p:nvPicPr>
        <p:blipFill>
          <a:blip r:embed="rId3"/>
          <a:stretch>
            <a:fillRect/>
          </a:stretch>
        </p:blipFill>
        <p:spPr>
          <a:xfrm>
            <a:off x="594360" y="1963324"/>
            <a:ext cx="6675120" cy="2839912"/>
          </a:xfrm>
          <a:prstGeom prst="rect">
            <a:avLst/>
          </a:prstGeom>
        </p:spPr>
      </p:pic>
      <p:sp>
        <p:nvSpPr>
          <p:cNvPr id="7" name="Text 4"/>
          <p:cNvSpPr/>
          <p:nvPr/>
        </p:nvSpPr>
        <p:spPr>
          <a:xfrm>
            <a:off x="7635240" y="1554480"/>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State / Plate Type:</a:t>
            </a:r>
            <a:endParaRPr lang="en-US" sz="1200" dirty="0"/>
          </a:p>
        </p:txBody>
      </p:sp>
      <p:sp>
        <p:nvSpPr>
          <p:cNvPr id="8" name="Shape 5"/>
          <p:cNvSpPr/>
          <p:nvPr/>
        </p:nvSpPr>
        <p:spPr>
          <a:xfrm>
            <a:off x="7635240" y="1847088"/>
            <a:ext cx="4069080" cy="502920"/>
          </a:xfrm>
          <a:prstGeom prst="rect">
            <a:avLst/>
          </a:prstGeom>
          <a:solidFill>
            <a:srgbClr val="FFFFFF"/>
          </a:solidFill>
          <a:ln w="12700">
            <a:solidFill>
              <a:srgbClr val="8A93A3"/>
            </a:solidFill>
            <a:prstDash val="dash"/>
          </a:ln>
        </p:spPr>
        <p:txBody>
          <a:bodyPr/>
          <a:lstStyle/>
          <a:p>
            <a:r>
              <a:rPr lang="en-US" dirty="0"/>
              <a:t>TEXAS</a:t>
            </a:r>
          </a:p>
        </p:txBody>
      </p:sp>
      <p:sp>
        <p:nvSpPr>
          <p:cNvPr id="10" name="Text 7"/>
          <p:cNvSpPr/>
          <p:nvPr/>
        </p:nvSpPr>
        <p:spPr>
          <a:xfrm>
            <a:off x="7635240" y="2551176"/>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Character(s) in Question:</a:t>
            </a:r>
            <a:endParaRPr lang="en-US" sz="1200" dirty="0"/>
          </a:p>
        </p:txBody>
      </p:sp>
      <p:sp>
        <p:nvSpPr>
          <p:cNvPr id="11" name="Shape 8"/>
          <p:cNvSpPr/>
          <p:nvPr/>
        </p:nvSpPr>
        <p:spPr>
          <a:xfrm>
            <a:off x="7635240" y="2843784"/>
            <a:ext cx="4069080" cy="502920"/>
          </a:xfrm>
          <a:prstGeom prst="rect">
            <a:avLst/>
          </a:prstGeom>
          <a:solidFill>
            <a:srgbClr val="FFFFFF"/>
          </a:solidFill>
          <a:ln w="12700">
            <a:solidFill>
              <a:srgbClr val="8A93A3"/>
            </a:solidFill>
            <a:prstDash val="dash"/>
          </a:ln>
        </p:spPr>
        <p:txBody>
          <a:bodyPr/>
          <a:lstStyle/>
          <a:p>
            <a:r>
              <a:rPr lang="en-US"/>
              <a:t>G4RM?</a:t>
            </a:r>
            <a:endParaRPr lang="en-US" dirty="0"/>
          </a:p>
        </p:txBody>
      </p:sp>
      <p:sp>
        <p:nvSpPr>
          <p:cNvPr id="13" name="Text 10"/>
          <p:cNvSpPr/>
          <p:nvPr/>
        </p:nvSpPr>
        <p:spPr>
          <a:xfrm>
            <a:off x="7635240" y="3547872"/>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Verdict — Letter O or Digit 0:</a:t>
            </a:r>
            <a:endParaRPr lang="en-US" sz="1200" dirty="0"/>
          </a:p>
        </p:txBody>
      </p:sp>
      <p:sp>
        <p:nvSpPr>
          <p:cNvPr id="14" name="Shape 11"/>
          <p:cNvSpPr/>
          <p:nvPr/>
        </p:nvSpPr>
        <p:spPr>
          <a:xfrm>
            <a:off x="7635240" y="3840480"/>
            <a:ext cx="4069080" cy="502920"/>
          </a:xfrm>
          <a:prstGeom prst="rect">
            <a:avLst/>
          </a:prstGeom>
          <a:solidFill>
            <a:srgbClr val="FFFFFF"/>
          </a:solidFill>
          <a:ln w="12700">
            <a:solidFill>
              <a:srgbClr val="8A93A3"/>
            </a:solidFill>
            <a:prstDash val="dash"/>
          </a:ln>
        </p:spPr>
        <p:txBody>
          <a:bodyPr/>
          <a:lstStyle/>
          <a:p>
            <a:r>
              <a:rPr lang="en-US" dirty="0"/>
              <a:t>This is the LETTER O: G4RMO</a:t>
            </a:r>
          </a:p>
        </p:txBody>
      </p:sp>
      <p:sp>
        <p:nvSpPr>
          <p:cNvPr id="16" name="Text 13"/>
          <p:cNvSpPr/>
          <p:nvPr/>
        </p:nvSpPr>
        <p:spPr>
          <a:xfrm>
            <a:off x="7635240" y="4544568"/>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Reasoning / Teaching Point:</a:t>
            </a:r>
            <a:endParaRPr lang="en-US" sz="1200" dirty="0"/>
          </a:p>
        </p:txBody>
      </p:sp>
      <p:sp>
        <p:nvSpPr>
          <p:cNvPr id="17" name="Shape 14"/>
          <p:cNvSpPr/>
          <p:nvPr/>
        </p:nvSpPr>
        <p:spPr>
          <a:xfrm>
            <a:off x="7635240" y="4837176"/>
            <a:ext cx="4069080" cy="1516732"/>
          </a:xfrm>
          <a:prstGeom prst="rect">
            <a:avLst/>
          </a:prstGeom>
          <a:solidFill>
            <a:srgbClr val="FFFFFF"/>
          </a:solidFill>
          <a:ln w="12700">
            <a:solidFill>
              <a:srgbClr val="8A93A3"/>
            </a:solidFill>
            <a:prstDash val="dash"/>
          </a:ln>
        </p:spPr>
        <p:txBody>
          <a:bodyPr/>
          <a:lstStyle/>
          <a:p>
            <a:r>
              <a:rPr lang="en-US" dirty="0"/>
              <a:t>There are no numbers around the O in question, the plate is attempting to appear as a word, and the Registration does not meet the Standard Issue Plate Criteria.</a:t>
            </a:r>
          </a:p>
        </p:txBody>
      </p:sp>
      <p:sp>
        <p:nvSpPr>
          <p:cNvPr id="19" name="Shape 16"/>
          <p:cNvSpPr/>
          <p:nvPr/>
        </p:nvSpPr>
        <p:spPr>
          <a:xfrm>
            <a:off x="457200" y="5349240"/>
            <a:ext cx="2011680" cy="365760"/>
          </a:xfrm>
          <a:prstGeom prst="roundRect">
            <a:avLst>
              <a:gd name="adj" fmla="val 15000"/>
            </a:avLst>
          </a:prstGeom>
          <a:solidFill>
            <a:srgbClr val="EAF1FE"/>
          </a:solidFill>
          <a:ln w="12700">
            <a:solidFill>
              <a:srgbClr val="CADCFC"/>
            </a:solidFill>
            <a:prstDash val="solid"/>
          </a:ln>
        </p:spPr>
        <p:txBody>
          <a:bodyPr/>
          <a:lstStyle/>
          <a:p>
            <a:endParaRPr lang="en-US"/>
          </a:p>
        </p:txBody>
      </p:sp>
      <p:sp>
        <p:nvSpPr>
          <p:cNvPr id="20" name="Text 17"/>
          <p:cNvSpPr/>
          <p:nvPr/>
        </p:nvSpPr>
        <p:spPr>
          <a:xfrm>
            <a:off x="457200" y="5349240"/>
            <a:ext cx="2011680" cy="36576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Texas Plate 8 of 8</a:t>
            </a:r>
            <a:endParaRPr lang="en-US" sz="1100" dirty="0"/>
          </a:p>
        </p:txBody>
      </p:sp>
      <p:sp>
        <p:nvSpPr>
          <p:cNvPr id="21" name="Text 18"/>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A93A3"/>
                </a:solidFill>
                <a:latin typeface="Calibri" pitchFamily="34" charset="0"/>
                <a:ea typeface="Calibri" pitchFamily="34" charset="-122"/>
                <a:cs typeface="Calibri" pitchFamily="34" charset="-120"/>
              </a:rPr>
              <a:t>Vanity Plates Training</a:t>
            </a:r>
            <a:endParaRPr lang="en-US" sz="1000" dirty="0"/>
          </a:p>
        </p:txBody>
      </p:sp>
      <p:sp>
        <p:nvSpPr>
          <p:cNvPr id="22" name="Text 19"/>
          <p:cNvSpPr/>
          <p:nvPr/>
        </p:nvSpPr>
        <p:spPr>
          <a:xfrm>
            <a:off x="11277295" y="6537960"/>
            <a:ext cx="457200" cy="274320"/>
          </a:xfrm>
          <a:prstGeom prst="rect">
            <a:avLst/>
          </a:prstGeom>
          <a:noFill/>
          <a:ln/>
        </p:spPr>
        <p:txBody>
          <a:bodyPr wrap="square" rtlCol="0" anchor="ctr"/>
          <a:lstStyle/>
          <a:p>
            <a:pPr marL="0" indent="0" algn="r">
              <a:buNone/>
            </a:pPr>
            <a:r>
              <a:rPr lang="en-US" sz="1000" dirty="0">
                <a:solidFill>
                  <a:srgbClr val="8A93A3"/>
                </a:solidFill>
                <a:latin typeface="Calibri" pitchFamily="34" charset="0"/>
                <a:ea typeface="Calibri" pitchFamily="34" charset="-122"/>
                <a:cs typeface="Calibri" pitchFamily="34" charset="-120"/>
              </a:rPr>
              <a:t>13</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0">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E2761"/>
          </a:solidFill>
          <a:ln/>
        </p:spPr>
        <p:txBody>
          <a:bodyPr/>
          <a:lstStyle/>
          <a:p>
            <a:endParaRPr lang="en-US"/>
          </a:p>
        </p:txBody>
      </p:sp>
      <p:sp>
        <p:nvSpPr>
          <p:cNvPr id="3" name="Text 1"/>
          <p:cNvSpPr/>
          <p:nvPr/>
        </p:nvSpPr>
        <p:spPr>
          <a:xfrm>
            <a:off x="1051560" y="320040"/>
            <a:ext cx="7315200" cy="274320"/>
          </a:xfrm>
          <a:prstGeom prst="rect">
            <a:avLst/>
          </a:prstGeom>
          <a:noFill/>
          <a:ln/>
        </p:spPr>
        <p:txBody>
          <a:bodyPr wrap="square" rtlCol="0" anchor="ctr"/>
          <a:lstStyle/>
          <a:p>
            <a:pPr marL="0" indent="0">
              <a:buNone/>
            </a:pPr>
            <a:r>
              <a:rPr lang="en-US" sz="1200" b="1" kern="0" spc="150" dirty="0">
                <a:solidFill>
                  <a:srgbClr val="1E2761"/>
                </a:solidFill>
                <a:latin typeface="Calibri" pitchFamily="34" charset="0"/>
                <a:ea typeface="Calibri" pitchFamily="34" charset="-122"/>
                <a:cs typeface="Calibri" pitchFamily="34" charset="-120"/>
              </a:rPr>
              <a:t>TEXAS PLATE 9</a:t>
            </a:r>
            <a:endParaRPr lang="en-US" sz="1200" dirty="0"/>
          </a:p>
        </p:txBody>
      </p:sp>
      <p:sp>
        <p:nvSpPr>
          <p:cNvPr id="4" name="Text 2"/>
          <p:cNvSpPr/>
          <p:nvPr/>
        </p:nvSpPr>
        <p:spPr>
          <a:xfrm>
            <a:off x="1051560" y="566928"/>
            <a:ext cx="10241280" cy="548640"/>
          </a:xfrm>
          <a:prstGeom prst="rect">
            <a:avLst/>
          </a:prstGeom>
          <a:noFill/>
          <a:ln/>
        </p:spPr>
        <p:txBody>
          <a:bodyPr wrap="square" rtlCol="0" anchor="ctr"/>
          <a:lstStyle/>
          <a:p>
            <a:pPr marL="0" indent="0">
              <a:buNone/>
            </a:pPr>
            <a:r>
              <a:rPr lang="en-US" sz="2800" b="1" dirty="0">
                <a:solidFill>
                  <a:srgbClr val="141A45"/>
                </a:solidFill>
                <a:latin typeface="Cambria" pitchFamily="34" charset="0"/>
                <a:ea typeface="Cambria" pitchFamily="34" charset="-122"/>
                <a:cs typeface="Cambria" pitchFamily="34" charset="-120"/>
              </a:rPr>
              <a:t>Identify the Character(s)</a:t>
            </a:r>
            <a:endParaRPr lang="en-US" sz="2800" dirty="0"/>
          </a:p>
        </p:txBody>
      </p:sp>
      <p:sp>
        <p:nvSpPr>
          <p:cNvPr id="5" name="Shape 3"/>
          <p:cNvSpPr/>
          <p:nvPr/>
        </p:nvSpPr>
        <p:spPr>
          <a:xfrm>
            <a:off x="457200" y="1554480"/>
            <a:ext cx="6949440" cy="3657600"/>
          </a:xfrm>
          <a:prstGeom prst="rect">
            <a:avLst/>
          </a:prstGeom>
          <a:solidFill>
            <a:srgbClr val="F4F6FA"/>
          </a:solidFill>
          <a:ln w="12700">
            <a:solidFill>
              <a:srgbClr val="CADCFC"/>
            </a:solidFill>
            <a:prstDash val="solid"/>
          </a:ln>
        </p:spPr>
        <p:txBody>
          <a:bodyPr/>
          <a:lstStyle/>
          <a:p>
            <a:endParaRPr lang="en-US"/>
          </a:p>
        </p:txBody>
      </p:sp>
      <p:pic>
        <p:nvPicPr>
          <p:cNvPr id="6" name="Image 0" descr="/home/claude/vanity_deck/images/1788355855279_image.png"/>
          <p:cNvPicPr>
            <a:picLocks noChangeAspect="1"/>
          </p:cNvPicPr>
          <p:nvPr/>
        </p:nvPicPr>
        <p:blipFill>
          <a:blip r:embed="rId3"/>
          <a:stretch>
            <a:fillRect/>
          </a:stretch>
        </p:blipFill>
        <p:spPr>
          <a:xfrm>
            <a:off x="594360" y="1842868"/>
            <a:ext cx="6675120" cy="3080825"/>
          </a:xfrm>
          <a:prstGeom prst="rect">
            <a:avLst/>
          </a:prstGeom>
        </p:spPr>
      </p:pic>
      <p:sp>
        <p:nvSpPr>
          <p:cNvPr id="17" name="Shape 14"/>
          <p:cNvSpPr/>
          <p:nvPr/>
        </p:nvSpPr>
        <p:spPr>
          <a:xfrm>
            <a:off x="7772400" y="1257730"/>
            <a:ext cx="4069080" cy="1524547"/>
          </a:xfrm>
          <a:prstGeom prst="rect">
            <a:avLst/>
          </a:prstGeom>
          <a:solidFill>
            <a:srgbClr val="FFFFFF"/>
          </a:solidFill>
          <a:ln w="12700">
            <a:solidFill>
              <a:srgbClr val="8A93A3"/>
            </a:solidFill>
            <a:prstDash val="dash"/>
          </a:ln>
        </p:spPr>
        <p:txBody>
          <a:bodyPr/>
          <a:lstStyle/>
          <a:p>
            <a:r>
              <a:rPr lang="en-US" dirty="0"/>
              <a:t>Some plates are hard to tell. Use your best judgment with all the context clues and knowledge you have obtained to determine what’s the best course of action.</a:t>
            </a:r>
          </a:p>
        </p:txBody>
      </p:sp>
      <p:sp>
        <p:nvSpPr>
          <p:cNvPr id="19" name="Shape 16"/>
          <p:cNvSpPr/>
          <p:nvPr/>
        </p:nvSpPr>
        <p:spPr>
          <a:xfrm>
            <a:off x="7772400" y="701704"/>
            <a:ext cx="3266440" cy="365760"/>
          </a:xfrm>
          <a:prstGeom prst="roundRect">
            <a:avLst>
              <a:gd name="adj" fmla="val 15000"/>
            </a:avLst>
          </a:prstGeom>
          <a:solidFill>
            <a:srgbClr val="EAF1FE"/>
          </a:solidFill>
          <a:ln w="12700">
            <a:solidFill>
              <a:srgbClr val="CADCFC"/>
            </a:solidFill>
            <a:prstDash val="solid"/>
          </a:ln>
        </p:spPr>
        <p:txBody>
          <a:bodyPr/>
          <a:lstStyle/>
          <a:p>
            <a:endParaRPr lang="en-US" dirty="0"/>
          </a:p>
        </p:txBody>
      </p:sp>
      <p:sp>
        <p:nvSpPr>
          <p:cNvPr id="20" name="Text 17"/>
          <p:cNvSpPr/>
          <p:nvPr/>
        </p:nvSpPr>
        <p:spPr>
          <a:xfrm>
            <a:off x="7874000" y="690372"/>
            <a:ext cx="2794000" cy="365760"/>
          </a:xfrm>
          <a:prstGeom prst="rect">
            <a:avLst/>
          </a:prstGeom>
          <a:noFill/>
          <a:ln/>
        </p:spPr>
        <p:txBody>
          <a:bodyPr wrap="square" rtlCol="0" anchor="ctr"/>
          <a:lstStyle/>
          <a:p>
            <a:pPr marL="0" indent="0" algn="ctr">
              <a:buNone/>
            </a:pPr>
            <a:endParaRPr lang="en-US" sz="1100" dirty="0"/>
          </a:p>
        </p:txBody>
      </p:sp>
      <p:sp>
        <p:nvSpPr>
          <p:cNvPr id="21" name="Text 18"/>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A93A3"/>
                </a:solidFill>
                <a:latin typeface="Calibri" pitchFamily="34" charset="0"/>
                <a:ea typeface="Calibri" pitchFamily="34" charset="-122"/>
                <a:cs typeface="Calibri" pitchFamily="34" charset="-120"/>
              </a:rPr>
              <a:t>Vanity Plates Training</a:t>
            </a:r>
            <a:endParaRPr lang="en-US" sz="1000" dirty="0"/>
          </a:p>
        </p:txBody>
      </p:sp>
      <p:sp>
        <p:nvSpPr>
          <p:cNvPr id="22" name="Text 19"/>
          <p:cNvSpPr/>
          <p:nvPr/>
        </p:nvSpPr>
        <p:spPr>
          <a:xfrm>
            <a:off x="11277295" y="6537960"/>
            <a:ext cx="457200" cy="274320"/>
          </a:xfrm>
          <a:prstGeom prst="rect">
            <a:avLst/>
          </a:prstGeom>
          <a:noFill/>
          <a:ln/>
        </p:spPr>
        <p:txBody>
          <a:bodyPr wrap="square" rtlCol="0" anchor="ctr"/>
          <a:lstStyle/>
          <a:p>
            <a:pPr marL="0" indent="0" algn="r">
              <a:buNone/>
            </a:pPr>
            <a:r>
              <a:rPr lang="en-US" sz="1000" dirty="0">
                <a:solidFill>
                  <a:srgbClr val="8A93A3"/>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828800" y="-1828800"/>
            <a:ext cx="4572000" cy="4572000"/>
          </a:xfrm>
          <a:prstGeom prst="ellipse">
            <a:avLst/>
          </a:prstGeom>
          <a:solidFill>
            <a:srgbClr val="141A45"/>
          </a:solidFill>
          <a:ln/>
        </p:spPr>
        <p:txBody>
          <a:bodyPr/>
          <a:lstStyle/>
          <a:p>
            <a:endParaRPr lang="en-US"/>
          </a:p>
        </p:txBody>
      </p:sp>
      <p:sp>
        <p:nvSpPr>
          <p:cNvPr id="3" name="Text 1"/>
          <p:cNvSpPr/>
          <p:nvPr/>
        </p:nvSpPr>
        <p:spPr>
          <a:xfrm>
            <a:off x="822960" y="2743200"/>
            <a:ext cx="10515600" cy="365760"/>
          </a:xfrm>
          <a:prstGeom prst="rect">
            <a:avLst/>
          </a:prstGeom>
          <a:noFill/>
          <a:ln/>
        </p:spPr>
        <p:txBody>
          <a:bodyPr wrap="square" rtlCol="0" anchor="ctr"/>
          <a:lstStyle/>
          <a:p>
            <a:pPr marL="0" indent="0">
              <a:buNone/>
            </a:pPr>
            <a:r>
              <a:rPr lang="en-US" sz="1400" b="1" kern="0" spc="200" dirty="0">
                <a:solidFill>
                  <a:srgbClr val="D97706"/>
                </a:solidFill>
                <a:latin typeface="Calibri" pitchFamily="34" charset="0"/>
                <a:ea typeface="Calibri" pitchFamily="34" charset="-122"/>
                <a:cs typeface="Calibri" pitchFamily="34" charset="-120"/>
              </a:rPr>
              <a:t>PRACTICE SET</a:t>
            </a:r>
            <a:endParaRPr lang="en-US" sz="1400" dirty="0"/>
          </a:p>
        </p:txBody>
      </p:sp>
      <p:sp>
        <p:nvSpPr>
          <p:cNvPr id="4" name="Text 2"/>
          <p:cNvSpPr/>
          <p:nvPr/>
        </p:nvSpPr>
        <p:spPr>
          <a:xfrm>
            <a:off x="822960" y="3108960"/>
            <a:ext cx="10515600" cy="91440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Other State Vanity Plates</a:t>
            </a:r>
            <a:endParaRPr lang="en-US" sz="4000" dirty="0"/>
          </a:p>
        </p:txBody>
      </p:sp>
      <p:sp>
        <p:nvSpPr>
          <p:cNvPr id="5" name="Text 3"/>
          <p:cNvSpPr/>
          <p:nvPr/>
        </p:nvSpPr>
        <p:spPr>
          <a:xfrm>
            <a:off x="822960" y="3977640"/>
            <a:ext cx="9601200" cy="731520"/>
          </a:xfrm>
          <a:prstGeom prst="rect">
            <a:avLst/>
          </a:prstGeom>
          <a:noFill/>
          <a:ln/>
        </p:spPr>
        <p:txBody>
          <a:bodyPr wrap="square" rtlCol="0" anchor="ctr"/>
          <a:lstStyle/>
          <a:p>
            <a:pPr marL="0" indent="0">
              <a:buNone/>
            </a:pPr>
            <a:r>
              <a:rPr lang="en-US" sz="1600" dirty="0">
                <a:solidFill>
                  <a:srgbClr val="CADCFC"/>
                </a:solidFill>
                <a:latin typeface="Calibri" pitchFamily="34" charset="0"/>
                <a:ea typeface="Calibri" pitchFamily="34" charset="-122"/>
                <a:cs typeface="Calibri" pitchFamily="34" charset="-120"/>
              </a:rPr>
              <a:t>For every example, identify the ambiguous character(s) and decide: Letter O or Digit 0?</a:t>
            </a:r>
            <a:endParaRPr lang="en-US" sz="1600" dirty="0"/>
          </a:p>
        </p:txBody>
      </p:sp>
      <p:sp>
        <p:nvSpPr>
          <p:cNvPr id="6" name="Text 4"/>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A93A3"/>
                </a:solidFill>
                <a:latin typeface="Calibri" pitchFamily="34" charset="0"/>
                <a:ea typeface="Calibri" pitchFamily="34" charset="-122"/>
                <a:cs typeface="Calibri" pitchFamily="34" charset="-120"/>
              </a:rPr>
              <a:t>Vanity Plates Training</a:t>
            </a:r>
            <a:endParaRPr lang="en-US" sz="1000" dirty="0"/>
          </a:p>
        </p:txBody>
      </p:sp>
      <p:sp>
        <p:nvSpPr>
          <p:cNvPr id="7" name="Text 5"/>
          <p:cNvSpPr/>
          <p:nvPr/>
        </p:nvSpPr>
        <p:spPr>
          <a:xfrm>
            <a:off x="11277295" y="6537960"/>
            <a:ext cx="457200" cy="274320"/>
          </a:xfrm>
          <a:prstGeom prst="rect">
            <a:avLst/>
          </a:prstGeom>
          <a:noFill/>
          <a:ln/>
        </p:spPr>
        <p:txBody>
          <a:bodyPr wrap="square" rtlCol="0" anchor="ctr"/>
          <a:lstStyle/>
          <a:p>
            <a:pPr marL="0" indent="0" algn="r">
              <a:buNone/>
            </a:pPr>
            <a:r>
              <a:rPr lang="en-US" sz="1000" dirty="0">
                <a:solidFill>
                  <a:srgbClr val="8A93A3"/>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D97706"/>
          </a:solidFill>
          <a:ln/>
        </p:spPr>
        <p:txBody>
          <a:bodyPr/>
          <a:lstStyle/>
          <a:p>
            <a:endParaRPr lang="en-US"/>
          </a:p>
        </p:txBody>
      </p:sp>
      <p:sp>
        <p:nvSpPr>
          <p:cNvPr id="3" name="Text 1"/>
          <p:cNvSpPr/>
          <p:nvPr/>
        </p:nvSpPr>
        <p:spPr>
          <a:xfrm>
            <a:off x="1051560" y="320040"/>
            <a:ext cx="7315200" cy="274320"/>
          </a:xfrm>
          <a:prstGeom prst="rect">
            <a:avLst/>
          </a:prstGeom>
          <a:noFill/>
          <a:ln/>
        </p:spPr>
        <p:txBody>
          <a:bodyPr wrap="square" rtlCol="0" anchor="ctr"/>
          <a:lstStyle/>
          <a:p>
            <a:pPr marL="0" indent="0">
              <a:buNone/>
            </a:pPr>
            <a:r>
              <a:rPr lang="en-US" sz="1200" b="1" kern="0" spc="150" dirty="0">
                <a:solidFill>
                  <a:srgbClr val="D97706"/>
                </a:solidFill>
                <a:latin typeface="Calibri" pitchFamily="34" charset="0"/>
                <a:ea typeface="Calibri" pitchFamily="34" charset="-122"/>
                <a:cs typeface="Calibri" pitchFamily="34" charset="-120"/>
              </a:rPr>
              <a:t>PRACTICE PLATE 1</a:t>
            </a:r>
            <a:endParaRPr lang="en-US" sz="1200" dirty="0"/>
          </a:p>
        </p:txBody>
      </p:sp>
      <p:sp>
        <p:nvSpPr>
          <p:cNvPr id="4" name="Text 2"/>
          <p:cNvSpPr/>
          <p:nvPr/>
        </p:nvSpPr>
        <p:spPr>
          <a:xfrm>
            <a:off x="1051560" y="566928"/>
            <a:ext cx="10241280" cy="548640"/>
          </a:xfrm>
          <a:prstGeom prst="rect">
            <a:avLst/>
          </a:prstGeom>
          <a:noFill/>
          <a:ln/>
        </p:spPr>
        <p:txBody>
          <a:bodyPr wrap="square" rtlCol="0" anchor="ctr"/>
          <a:lstStyle/>
          <a:p>
            <a:pPr marL="0" indent="0">
              <a:buNone/>
            </a:pPr>
            <a:r>
              <a:rPr lang="en-US" sz="2800" b="1" dirty="0">
                <a:solidFill>
                  <a:srgbClr val="141A45"/>
                </a:solidFill>
                <a:latin typeface="Cambria" pitchFamily="34" charset="0"/>
                <a:ea typeface="Cambria" pitchFamily="34" charset="-122"/>
                <a:cs typeface="Cambria" pitchFamily="34" charset="-120"/>
              </a:rPr>
              <a:t>Identify the Character(s)</a:t>
            </a:r>
            <a:endParaRPr lang="en-US" sz="2800" dirty="0"/>
          </a:p>
        </p:txBody>
      </p:sp>
      <p:sp>
        <p:nvSpPr>
          <p:cNvPr id="5" name="Shape 3"/>
          <p:cNvSpPr/>
          <p:nvPr/>
        </p:nvSpPr>
        <p:spPr>
          <a:xfrm>
            <a:off x="457200" y="1554480"/>
            <a:ext cx="6949440" cy="3657600"/>
          </a:xfrm>
          <a:prstGeom prst="rect">
            <a:avLst/>
          </a:prstGeom>
          <a:solidFill>
            <a:srgbClr val="F4F6FA"/>
          </a:solidFill>
          <a:ln w="12700">
            <a:solidFill>
              <a:srgbClr val="CADCFC"/>
            </a:solidFill>
            <a:prstDash val="solid"/>
          </a:ln>
        </p:spPr>
        <p:txBody>
          <a:bodyPr/>
          <a:lstStyle/>
          <a:p>
            <a:endParaRPr lang="en-US"/>
          </a:p>
        </p:txBody>
      </p:sp>
      <p:pic>
        <p:nvPicPr>
          <p:cNvPr id="6" name="Image 0" descr="/home/claude/vanity_deck/images/1788356042875_image.png"/>
          <p:cNvPicPr>
            <a:picLocks noChangeAspect="1"/>
          </p:cNvPicPr>
          <p:nvPr/>
        </p:nvPicPr>
        <p:blipFill>
          <a:blip r:embed="rId3"/>
          <a:stretch>
            <a:fillRect/>
          </a:stretch>
        </p:blipFill>
        <p:spPr>
          <a:xfrm>
            <a:off x="594360" y="1744300"/>
            <a:ext cx="6675120" cy="3277961"/>
          </a:xfrm>
          <a:prstGeom prst="rect">
            <a:avLst/>
          </a:prstGeom>
        </p:spPr>
      </p:pic>
      <p:sp>
        <p:nvSpPr>
          <p:cNvPr id="7" name="Text 4"/>
          <p:cNvSpPr/>
          <p:nvPr/>
        </p:nvSpPr>
        <p:spPr>
          <a:xfrm>
            <a:off x="7635240" y="1554480"/>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State / Plate Type:</a:t>
            </a:r>
            <a:endParaRPr lang="en-US" sz="1200" dirty="0"/>
          </a:p>
        </p:txBody>
      </p:sp>
      <p:sp>
        <p:nvSpPr>
          <p:cNvPr id="8" name="Shape 5"/>
          <p:cNvSpPr/>
          <p:nvPr/>
        </p:nvSpPr>
        <p:spPr>
          <a:xfrm>
            <a:off x="7635240" y="1847088"/>
            <a:ext cx="4069080" cy="502920"/>
          </a:xfrm>
          <a:prstGeom prst="rect">
            <a:avLst/>
          </a:prstGeom>
          <a:solidFill>
            <a:srgbClr val="FFFFFF"/>
          </a:solidFill>
          <a:ln w="12700">
            <a:solidFill>
              <a:srgbClr val="8A93A3"/>
            </a:solidFill>
            <a:prstDash val="dash"/>
          </a:ln>
        </p:spPr>
        <p:txBody>
          <a:bodyPr/>
          <a:lstStyle/>
          <a:p>
            <a:r>
              <a:rPr lang="en-US" dirty="0"/>
              <a:t>PENNSYLVANIA</a:t>
            </a:r>
          </a:p>
        </p:txBody>
      </p:sp>
      <p:sp>
        <p:nvSpPr>
          <p:cNvPr id="10" name="Text 7"/>
          <p:cNvSpPr/>
          <p:nvPr/>
        </p:nvSpPr>
        <p:spPr>
          <a:xfrm>
            <a:off x="7635240" y="2551176"/>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Character(s) in Question:</a:t>
            </a:r>
            <a:endParaRPr lang="en-US" sz="1200" dirty="0"/>
          </a:p>
        </p:txBody>
      </p:sp>
      <p:sp>
        <p:nvSpPr>
          <p:cNvPr id="11" name="Shape 8"/>
          <p:cNvSpPr/>
          <p:nvPr/>
        </p:nvSpPr>
        <p:spPr>
          <a:xfrm>
            <a:off x="7635240" y="2843784"/>
            <a:ext cx="4069080" cy="502920"/>
          </a:xfrm>
          <a:prstGeom prst="rect">
            <a:avLst/>
          </a:prstGeom>
          <a:solidFill>
            <a:srgbClr val="FFFFFF"/>
          </a:solidFill>
          <a:ln w="12700">
            <a:solidFill>
              <a:srgbClr val="8A93A3"/>
            </a:solidFill>
            <a:prstDash val="dash"/>
          </a:ln>
        </p:spPr>
        <p:txBody>
          <a:bodyPr/>
          <a:lstStyle/>
          <a:p>
            <a:r>
              <a:rPr lang="en-US" dirty="0"/>
              <a:t>B?8?7</a:t>
            </a:r>
          </a:p>
        </p:txBody>
      </p:sp>
      <p:sp>
        <p:nvSpPr>
          <p:cNvPr id="13" name="Text 10"/>
          <p:cNvSpPr/>
          <p:nvPr/>
        </p:nvSpPr>
        <p:spPr>
          <a:xfrm>
            <a:off x="7635240" y="3547872"/>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Verdict — Letter O or Digit 0:</a:t>
            </a:r>
            <a:endParaRPr lang="en-US" sz="1200" dirty="0"/>
          </a:p>
        </p:txBody>
      </p:sp>
      <p:sp>
        <p:nvSpPr>
          <p:cNvPr id="14" name="Shape 11"/>
          <p:cNvSpPr/>
          <p:nvPr/>
        </p:nvSpPr>
        <p:spPr>
          <a:xfrm>
            <a:off x="7635240" y="3840480"/>
            <a:ext cx="4069080" cy="502920"/>
          </a:xfrm>
          <a:prstGeom prst="rect">
            <a:avLst/>
          </a:prstGeom>
          <a:solidFill>
            <a:srgbClr val="FFFFFF"/>
          </a:solidFill>
          <a:ln w="12700">
            <a:solidFill>
              <a:srgbClr val="8A93A3"/>
            </a:solidFill>
            <a:prstDash val="dash"/>
          </a:ln>
        </p:spPr>
        <p:txBody>
          <a:bodyPr/>
          <a:lstStyle/>
          <a:p>
            <a:r>
              <a:rPr lang="en-US" dirty="0"/>
              <a:t>These are both the NUMBER 0: B0807</a:t>
            </a:r>
          </a:p>
        </p:txBody>
      </p:sp>
      <p:sp>
        <p:nvSpPr>
          <p:cNvPr id="16" name="Text 13"/>
          <p:cNvSpPr/>
          <p:nvPr/>
        </p:nvSpPr>
        <p:spPr>
          <a:xfrm>
            <a:off x="7635240" y="4544568"/>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Reasoning / Teaching Point:</a:t>
            </a:r>
            <a:endParaRPr lang="en-US" sz="1200" dirty="0"/>
          </a:p>
        </p:txBody>
      </p:sp>
      <p:sp>
        <p:nvSpPr>
          <p:cNvPr id="17" name="Shape 14"/>
          <p:cNvSpPr/>
          <p:nvPr/>
        </p:nvSpPr>
        <p:spPr>
          <a:xfrm>
            <a:off x="7635240" y="4837176"/>
            <a:ext cx="4069080" cy="1453896"/>
          </a:xfrm>
          <a:prstGeom prst="rect">
            <a:avLst/>
          </a:prstGeom>
          <a:solidFill>
            <a:srgbClr val="FFFFFF"/>
          </a:solidFill>
          <a:ln w="12700">
            <a:solidFill>
              <a:srgbClr val="8A93A3"/>
            </a:solidFill>
            <a:prstDash val="dash"/>
          </a:ln>
        </p:spPr>
        <p:txBody>
          <a:bodyPr/>
          <a:lstStyle/>
          <a:p>
            <a:r>
              <a:rPr lang="en-US" dirty="0"/>
              <a:t>The state of Pennsylvania uses the unique zero with the slash to easily identify the digit. </a:t>
            </a:r>
            <a:r>
              <a:rPr lang="en-US" i="1" dirty="0"/>
              <a:t>(We must ensure we are not mixing up 8’s with Zeros for these type of situations)</a:t>
            </a:r>
          </a:p>
        </p:txBody>
      </p:sp>
      <p:sp>
        <p:nvSpPr>
          <p:cNvPr id="19" name="Shape 16"/>
          <p:cNvSpPr/>
          <p:nvPr/>
        </p:nvSpPr>
        <p:spPr>
          <a:xfrm>
            <a:off x="457200" y="5349240"/>
            <a:ext cx="2011680" cy="365760"/>
          </a:xfrm>
          <a:prstGeom prst="roundRect">
            <a:avLst>
              <a:gd name="adj" fmla="val 15000"/>
            </a:avLst>
          </a:prstGeom>
          <a:solidFill>
            <a:srgbClr val="EAF1FE"/>
          </a:solidFill>
          <a:ln w="12700">
            <a:solidFill>
              <a:srgbClr val="CADCFC"/>
            </a:solidFill>
            <a:prstDash val="solid"/>
          </a:ln>
        </p:spPr>
        <p:txBody>
          <a:bodyPr/>
          <a:lstStyle/>
          <a:p>
            <a:endParaRPr lang="en-US"/>
          </a:p>
        </p:txBody>
      </p:sp>
      <p:sp>
        <p:nvSpPr>
          <p:cNvPr id="20" name="Text 17"/>
          <p:cNvSpPr/>
          <p:nvPr/>
        </p:nvSpPr>
        <p:spPr>
          <a:xfrm>
            <a:off x="457200" y="5349240"/>
            <a:ext cx="2011680" cy="36576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Plate 1 of 2</a:t>
            </a:r>
            <a:endParaRPr lang="en-US" sz="1100" dirty="0"/>
          </a:p>
        </p:txBody>
      </p:sp>
      <p:sp>
        <p:nvSpPr>
          <p:cNvPr id="21" name="Text 18"/>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A93A3"/>
                </a:solidFill>
                <a:latin typeface="Calibri" pitchFamily="34" charset="0"/>
                <a:ea typeface="Calibri" pitchFamily="34" charset="-122"/>
                <a:cs typeface="Calibri" pitchFamily="34" charset="-120"/>
              </a:rPr>
              <a:t>Vanity Plates Training</a:t>
            </a:r>
            <a:endParaRPr lang="en-US" sz="1000" dirty="0"/>
          </a:p>
        </p:txBody>
      </p:sp>
      <p:sp>
        <p:nvSpPr>
          <p:cNvPr id="22" name="Text 19"/>
          <p:cNvSpPr/>
          <p:nvPr/>
        </p:nvSpPr>
        <p:spPr>
          <a:xfrm>
            <a:off x="11277295" y="6537960"/>
            <a:ext cx="457200" cy="274320"/>
          </a:xfrm>
          <a:prstGeom prst="rect">
            <a:avLst/>
          </a:prstGeom>
          <a:noFill/>
          <a:ln/>
        </p:spPr>
        <p:txBody>
          <a:bodyPr wrap="square" rtlCol="0" anchor="ctr"/>
          <a:lstStyle/>
          <a:p>
            <a:pPr marL="0" indent="0" algn="r">
              <a:buNone/>
            </a:pPr>
            <a:r>
              <a:rPr lang="en-US" sz="1000" dirty="0">
                <a:solidFill>
                  <a:srgbClr val="8A93A3"/>
                </a:solidFill>
                <a:latin typeface="Calibri" pitchFamily="34" charset="0"/>
                <a:ea typeface="Calibri" pitchFamily="34" charset="-122"/>
                <a:cs typeface="Calibri" pitchFamily="34" charset="-120"/>
              </a:rPr>
              <a:t>20</a:t>
            </a:r>
            <a:endParaRPr lang="en-US" sz="1000" dirty="0"/>
          </a:p>
        </p:txBody>
      </p:sp>
      <p:pic>
        <p:nvPicPr>
          <p:cNvPr id="24" name="Picture 23">
            <a:extLst>
              <a:ext uri="{FF2B5EF4-FFF2-40B4-BE49-F238E27FC236}">
                <a16:creationId xmlns:a16="http://schemas.microsoft.com/office/drawing/2014/main" id="{5BDE7502-424C-5C05-7CB4-204B204CF5BF}"/>
              </a:ext>
            </a:extLst>
          </p:cNvPr>
          <p:cNvPicPr>
            <a:picLocks noChangeAspect="1"/>
          </p:cNvPicPr>
          <p:nvPr/>
        </p:nvPicPr>
        <p:blipFill>
          <a:blip r:embed="rId4"/>
          <a:stretch>
            <a:fillRect/>
          </a:stretch>
        </p:blipFill>
        <p:spPr>
          <a:xfrm>
            <a:off x="6431025" y="5315165"/>
            <a:ext cx="975615" cy="138074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anim calcmode="lin" valueType="num">
                                      <p:cBhvr additive="base">
                                        <p:cTn id="15" dur="500" fill="hold"/>
                                        <p:tgtEl>
                                          <p:spTgt spid="24"/>
                                        </p:tgtEl>
                                        <p:attrNameLst>
                                          <p:attrName>ppt_x</p:attrName>
                                        </p:attrNameLst>
                                      </p:cBhvr>
                                      <p:tavLst>
                                        <p:tav tm="0">
                                          <p:val>
                                            <p:strVal val="#ppt_x"/>
                                          </p:val>
                                        </p:tav>
                                        <p:tav tm="100000">
                                          <p:val>
                                            <p:strVal val="#ppt_x"/>
                                          </p:val>
                                        </p:tav>
                                      </p:tavLst>
                                    </p:anim>
                                    <p:anim calcmode="lin" valueType="num">
                                      <p:cBhvr additive="base">
                                        <p:cTn id="1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E2761"/>
          </a:solidFill>
          <a:ln/>
        </p:spPr>
        <p:txBody>
          <a:bodyPr/>
          <a:lstStyle/>
          <a:p>
            <a:endParaRPr lang="en-US"/>
          </a:p>
        </p:txBody>
      </p:sp>
      <p:sp>
        <p:nvSpPr>
          <p:cNvPr id="3" name="Text 1"/>
          <p:cNvSpPr/>
          <p:nvPr/>
        </p:nvSpPr>
        <p:spPr>
          <a:xfrm>
            <a:off x="1051560" y="320040"/>
            <a:ext cx="7315200" cy="274320"/>
          </a:xfrm>
          <a:prstGeom prst="rect">
            <a:avLst/>
          </a:prstGeom>
          <a:noFill/>
          <a:ln/>
        </p:spPr>
        <p:txBody>
          <a:bodyPr wrap="square" rtlCol="0" anchor="ctr"/>
          <a:lstStyle/>
          <a:p>
            <a:pPr marL="0" indent="0">
              <a:buNone/>
            </a:pPr>
            <a:r>
              <a:rPr lang="en-US" sz="1200" b="1" kern="0" spc="150" dirty="0">
                <a:solidFill>
                  <a:srgbClr val="1E2761"/>
                </a:solidFill>
                <a:latin typeface="Calibri" pitchFamily="34" charset="0"/>
                <a:ea typeface="Calibri" pitchFamily="34" charset="-122"/>
                <a:cs typeface="Calibri" pitchFamily="34" charset="-120"/>
              </a:rPr>
              <a:t>PRACTICE PLATE 2</a:t>
            </a:r>
            <a:endParaRPr lang="en-US" sz="1200" dirty="0"/>
          </a:p>
        </p:txBody>
      </p:sp>
      <p:sp>
        <p:nvSpPr>
          <p:cNvPr id="4" name="Text 2"/>
          <p:cNvSpPr/>
          <p:nvPr/>
        </p:nvSpPr>
        <p:spPr>
          <a:xfrm>
            <a:off x="1051560" y="566928"/>
            <a:ext cx="10241280" cy="548640"/>
          </a:xfrm>
          <a:prstGeom prst="rect">
            <a:avLst/>
          </a:prstGeom>
          <a:noFill/>
          <a:ln/>
        </p:spPr>
        <p:txBody>
          <a:bodyPr wrap="square" rtlCol="0" anchor="ctr"/>
          <a:lstStyle/>
          <a:p>
            <a:pPr marL="0" indent="0">
              <a:buNone/>
            </a:pPr>
            <a:r>
              <a:rPr lang="en-US" sz="2800" b="1" dirty="0">
                <a:solidFill>
                  <a:srgbClr val="141A45"/>
                </a:solidFill>
                <a:latin typeface="Cambria" pitchFamily="34" charset="0"/>
                <a:ea typeface="Cambria" pitchFamily="34" charset="-122"/>
                <a:cs typeface="Cambria" pitchFamily="34" charset="-120"/>
              </a:rPr>
              <a:t>Identify the Character(s)</a:t>
            </a:r>
            <a:endParaRPr lang="en-US" sz="2800" dirty="0"/>
          </a:p>
        </p:txBody>
      </p:sp>
      <p:sp>
        <p:nvSpPr>
          <p:cNvPr id="5" name="Shape 3"/>
          <p:cNvSpPr/>
          <p:nvPr/>
        </p:nvSpPr>
        <p:spPr>
          <a:xfrm>
            <a:off x="457200" y="1554480"/>
            <a:ext cx="6949440" cy="3657600"/>
          </a:xfrm>
          <a:prstGeom prst="rect">
            <a:avLst/>
          </a:prstGeom>
          <a:solidFill>
            <a:srgbClr val="F4F6FA"/>
          </a:solidFill>
          <a:ln w="12700">
            <a:solidFill>
              <a:srgbClr val="CADCFC"/>
            </a:solidFill>
            <a:prstDash val="solid"/>
          </a:ln>
        </p:spPr>
        <p:txBody>
          <a:bodyPr/>
          <a:lstStyle/>
          <a:p>
            <a:endParaRPr lang="en-US"/>
          </a:p>
        </p:txBody>
      </p:sp>
      <p:pic>
        <p:nvPicPr>
          <p:cNvPr id="6" name="Image 0" descr="/home/claude/vanity_deck/images/1788356034839_image.png"/>
          <p:cNvPicPr>
            <a:picLocks noChangeAspect="1"/>
          </p:cNvPicPr>
          <p:nvPr/>
        </p:nvPicPr>
        <p:blipFill>
          <a:blip r:embed="rId3"/>
          <a:stretch>
            <a:fillRect/>
          </a:stretch>
        </p:blipFill>
        <p:spPr>
          <a:xfrm>
            <a:off x="640080" y="1737360"/>
            <a:ext cx="6583680" cy="3291840"/>
          </a:xfrm>
          <a:prstGeom prst="rect">
            <a:avLst/>
          </a:prstGeom>
        </p:spPr>
      </p:pic>
      <p:sp>
        <p:nvSpPr>
          <p:cNvPr id="7" name="Text 4"/>
          <p:cNvSpPr/>
          <p:nvPr/>
        </p:nvSpPr>
        <p:spPr>
          <a:xfrm>
            <a:off x="7635240" y="1554480"/>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State / Plate Type:</a:t>
            </a:r>
            <a:endParaRPr lang="en-US" sz="1200" dirty="0"/>
          </a:p>
        </p:txBody>
      </p:sp>
      <p:sp>
        <p:nvSpPr>
          <p:cNvPr id="8" name="Shape 5"/>
          <p:cNvSpPr/>
          <p:nvPr/>
        </p:nvSpPr>
        <p:spPr>
          <a:xfrm>
            <a:off x="7635240" y="1847088"/>
            <a:ext cx="4069080" cy="502920"/>
          </a:xfrm>
          <a:prstGeom prst="rect">
            <a:avLst/>
          </a:prstGeom>
          <a:solidFill>
            <a:srgbClr val="FFFFFF"/>
          </a:solidFill>
          <a:ln w="12700">
            <a:solidFill>
              <a:srgbClr val="8A93A3"/>
            </a:solidFill>
            <a:prstDash val="dash"/>
          </a:ln>
        </p:spPr>
        <p:txBody>
          <a:bodyPr/>
          <a:lstStyle/>
          <a:p>
            <a:r>
              <a:rPr lang="en-US" dirty="0"/>
              <a:t>CALIFORNIA</a:t>
            </a:r>
          </a:p>
        </p:txBody>
      </p:sp>
      <p:sp>
        <p:nvSpPr>
          <p:cNvPr id="10" name="Text 7"/>
          <p:cNvSpPr/>
          <p:nvPr/>
        </p:nvSpPr>
        <p:spPr>
          <a:xfrm>
            <a:off x="7635240" y="2551176"/>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Character(s) in Question:</a:t>
            </a:r>
            <a:endParaRPr lang="en-US" sz="1200" dirty="0"/>
          </a:p>
        </p:txBody>
      </p:sp>
      <p:sp>
        <p:nvSpPr>
          <p:cNvPr id="11" name="Shape 8"/>
          <p:cNvSpPr/>
          <p:nvPr/>
        </p:nvSpPr>
        <p:spPr>
          <a:xfrm>
            <a:off x="7635240" y="2843784"/>
            <a:ext cx="4069080" cy="502920"/>
          </a:xfrm>
          <a:prstGeom prst="rect">
            <a:avLst/>
          </a:prstGeom>
          <a:solidFill>
            <a:srgbClr val="FFFFFF"/>
          </a:solidFill>
          <a:ln w="12700">
            <a:solidFill>
              <a:srgbClr val="8A93A3"/>
            </a:solidFill>
            <a:prstDash val="dash"/>
          </a:ln>
        </p:spPr>
        <p:txBody>
          <a:bodyPr/>
          <a:lstStyle/>
          <a:p>
            <a:r>
              <a:rPr lang="en-US" dirty="0"/>
              <a:t>8N?H?44</a:t>
            </a:r>
          </a:p>
        </p:txBody>
      </p:sp>
      <p:sp>
        <p:nvSpPr>
          <p:cNvPr id="13" name="Text 10"/>
          <p:cNvSpPr/>
          <p:nvPr/>
        </p:nvSpPr>
        <p:spPr>
          <a:xfrm>
            <a:off x="7635240" y="3547872"/>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Verdict — Letter O or Digit 0:</a:t>
            </a:r>
            <a:endParaRPr lang="en-US" sz="1200" dirty="0"/>
          </a:p>
        </p:txBody>
      </p:sp>
      <p:sp>
        <p:nvSpPr>
          <p:cNvPr id="14" name="Shape 11"/>
          <p:cNvSpPr/>
          <p:nvPr/>
        </p:nvSpPr>
        <p:spPr>
          <a:xfrm>
            <a:off x="7635240" y="3840480"/>
            <a:ext cx="4069080" cy="676656"/>
          </a:xfrm>
          <a:prstGeom prst="rect">
            <a:avLst/>
          </a:prstGeom>
          <a:solidFill>
            <a:srgbClr val="FFFFFF"/>
          </a:solidFill>
          <a:ln w="12700">
            <a:solidFill>
              <a:srgbClr val="8A93A3"/>
            </a:solidFill>
            <a:prstDash val="dash"/>
          </a:ln>
        </p:spPr>
        <p:txBody>
          <a:bodyPr/>
          <a:lstStyle/>
          <a:p>
            <a:r>
              <a:rPr lang="en-US" dirty="0"/>
              <a:t>This plate has BOTH, the LETTER O and the NUMBER 0: 8NOH044</a:t>
            </a:r>
          </a:p>
          <a:p>
            <a:endParaRPr lang="en-US" dirty="0"/>
          </a:p>
        </p:txBody>
      </p:sp>
      <p:sp>
        <p:nvSpPr>
          <p:cNvPr id="16" name="Text 13"/>
          <p:cNvSpPr/>
          <p:nvPr/>
        </p:nvSpPr>
        <p:spPr>
          <a:xfrm>
            <a:off x="7635240" y="4544568"/>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Reasoning / Teaching Point:</a:t>
            </a:r>
            <a:endParaRPr lang="en-US" sz="1200" dirty="0"/>
          </a:p>
        </p:txBody>
      </p:sp>
      <p:sp>
        <p:nvSpPr>
          <p:cNvPr id="17" name="Shape 14"/>
          <p:cNvSpPr/>
          <p:nvPr/>
        </p:nvSpPr>
        <p:spPr>
          <a:xfrm>
            <a:off x="7635240" y="4837176"/>
            <a:ext cx="4069080" cy="1005840"/>
          </a:xfrm>
          <a:prstGeom prst="rect">
            <a:avLst/>
          </a:prstGeom>
          <a:solidFill>
            <a:srgbClr val="FFFFFF"/>
          </a:solidFill>
          <a:ln w="12700">
            <a:solidFill>
              <a:srgbClr val="8A93A3"/>
            </a:solidFill>
            <a:prstDash val="dash"/>
          </a:ln>
        </p:spPr>
        <p:txBody>
          <a:bodyPr/>
          <a:lstStyle/>
          <a:p>
            <a:r>
              <a:rPr lang="en-US" dirty="0"/>
              <a:t>California uses the more squared character for letter O’s and slimmer more round character for number 0.</a:t>
            </a:r>
          </a:p>
        </p:txBody>
      </p:sp>
      <p:sp>
        <p:nvSpPr>
          <p:cNvPr id="19" name="Shape 16"/>
          <p:cNvSpPr/>
          <p:nvPr/>
        </p:nvSpPr>
        <p:spPr>
          <a:xfrm>
            <a:off x="457200" y="5349240"/>
            <a:ext cx="2011680" cy="365760"/>
          </a:xfrm>
          <a:prstGeom prst="roundRect">
            <a:avLst>
              <a:gd name="adj" fmla="val 15000"/>
            </a:avLst>
          </a:prstGeom>
          <a:solidFill>
            <a:srgbClr val="EAF1FE"/>
          </a:solidFill>
          <a:ln w="12700">
            <a:solidFill>
              <a:srgbClr val="CADCFC"/>
            </a:solidFill>
            <a:prstDash val="solid"/>
          </a:ln>
        </p:spPr>
        <p:txBody>
          <a:bodyPr/>
          <a:lstStyle/>
          <a:p>
            <a:endParaRPr lang="en-US"/>
          </a:p>
        </p:txBody>
      </p:sp>
      <p:sp>
        <p:nvSpPr>
          <p:cNvPr id="20" name="Text 17"/>
          <p:cNvSpPr/>
          <p:nvPr/>
        </p:nvSpPr>
        <p:spPr>
          <a:xfrm>
            <a:off x="457200" y="5349240"/>
            <a:ext cx="2011680" cy="36576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Plate 2 of 2</a:t>
            </a:r>
            <a:endParaRPr lang="en-US" sz="1100" dirty="0"/>
          </a:p>
        </p:txBody>
      </p:sp>
      <p:sp>
        <p:nvSpPr>
          <p:cNvPr id="21" name="Text 18"/>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A93A3"/>
                </a:solidFill>
                <a:latin typeface="Calibri" pitchFamily="34" charset="0"/>
                <a:ea typeface="Calibri" pitchFamily="34" charset="-122"/>
                <a:cs typeface="Calibri" pitchFamily="34" charset="-120"/>
              </a:rPr>
              <a:t>Vanity Plates Training</a:t>
            </a:r>
            <a:endParaRPr lang="en-US" sz="1000" dirty="0"/>
          </a:p>
        </p:txBody>
      </p:sp>
      <p:sp>
        <p:nvSpPr>
          <p:cNvPr id="22" name="Text 19"/>
          <p:cNvSpPr/>
          <p:nvPr/>
        </p:nvSpPr>
        <p:spPr>
          <a:xfrm>
            <a:off x="11277295" y="6537960"/>
            <a:ext cx="457200" cy="274320"/>
          </a:xfrm>
          <a:prstGeom prst="rect">
            <a:avLst/>
          </a:prstGeom>
          <a:noFill/>
          <a:ln/>
        </p:spPr>
        <p:txBody>
          <a:bodyPr wrap="square" rtlCol="0" anchor="ctr"/>
          <a:lstStyle/>
          <a:p>
            <a:pPr marL="0" indent="0" algn="r">
              <a:buNone/>
            </a:pPr>
            <a:r>
              <a:rPr lang="en-US" sz="1000" dirty="0">
                <a:solidFill>
                  <a:srgbClr val="8A93A3"/>
                </a:solidFill>
                <a:latin typeface="Calibri" pitchFamily="34" charset="0"/>
                <a:ea typeface="Calibri" pitchFamily="34" charset="-122"/>
                <a:cs typeface="Calibri" pitchFamily="34" charset="-120"/>
              </a:rPr>
              <a:t>19</a:t>
            </a:r>
            <a:endParaRPr lang="en-US" sz="1000" dirty="0"/>
          </a:p>
        </p:txBody>
      </p:sp>
      <p:pic>
        <p:nvPicPr>
          <p:cNvPr id="24" name="Picture 23">
            <a:extLst>
              <a:ext uri="{FF2B5EF4-FFF2-40B4-BE49-F238E27FC236}">
                <a16:creationId xmlns:a16="http://schemas.microsoft.com/office/drawing/2014/main" id="{70E71810-A585-D5EE-D3D7-31B3115DBC3E}"/>
              </a:ext>
            </a:extLst>
          </p:cNvPr>
          <p:cNvPicPr>
            <a:picLocks noChangeAspect="1"/>
          </p:cNvPicPr>
          <p:nvPr/>
        </p:nvPicPr>
        <p:blipFill>
          <a:blip r:embed="rId4"/>
          <a:stretch>
            <a:fillRect/>
          </a:stretch>
        </p:blipFill>
        <p:spPr>
          <a:xfrm>
            <a:off x="6442808" y="5349240"/>
            <a:ext cx="963832" cy="141390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anim calcmode="lin" valueType="num">
                                      <p:cBhvr additive="base">
                                        <p:cTn id="15" dur="500" fill="hold"/>
                                        <p:tgtEl>
                                          <p:spTgt spid="24"/>
                                        </p:tgtEl>
                                        <p:attrNameLst>
                                          <p:attrName>ppt_x</p:attrName>
                                        </p:attrNameLst>
                                      </p:cBhvr>
                                      <p:tavLst>
                                        <p:tav tm="0">
                                          <p:val>
                                            <p:strVal val="#ppt_x"/>
                                          </p:val>
                                        </p:tav>
                                        <p:tav tm="100000">
                                          <p:val>
                                            <p:strVal val="#ppt_x"/>
                                          </p:val>
                                        </p:tav>
                                      </p:tavLst>
                                    </p:anim>
                                    <p:anim calcmode="lin" valueType="num">
                                      <p:cBhvr additive="base">
                                        <p:cTn id="1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828800" y="-1828800"/>
            <a:ext cx="4572000" cy="4572000"/>
          </a:xfrm>
          <a:prstGeom prst="ellipse">
            <a:avLst/>
          </a:prstGeom>
          <a:solidFill>
            <a:srgbClr val="141A45"/>
          </a:solidFill>
          <a:ln/>
        </p:spPr>
        <p:txBody>
          <a:bodyPr/>
          <a:lstStyle/>
          <a:p>
            <a:endParaRPr lang="en-US"/>
          </a:p>
        </p:txBody>
      </p:sp>
      <p:sp>
        <p:nvSpPr>
          <p:cNvPr id="3" name="Text 1"/>
          <p:cNvSpPr/>
          <p:nvPr/>
        </p:nvSpPr>
        <p:spPr>
          <a:xfrm>
            <a:off x="822960" y="2743200"/>
            <a:ext cx="10515600" cy="365760"/>
          </a:xfrm>
          <a:prstGeom prst="rect">
            <a:avLst/>
          </a:prstGeom>
          <a:noFill/>
          <a:ln/>
        </p:spPr>
        <p:txBody>
          <a:bodyPr wrap="square" rtlCol="0" anchor="ctr"/>
          <a:lstStyle/>
          <a:p>
            <a:pPr marL="0" indent="0">
              <a:buNone/>
            </a:pPr>
            <a:r>
              <a:rPr lang="en-US" sz="1400" b="1" kern="0" spc="200" dirty="0">
                <a:solidFill>
                  <a:srgbClr val="D97706"/>
                </a:solidFill>
                <a:latin typeface="Calibri" pitchFamily="34" charset="0"/>
                <a:ea typeface="Calibri" pitchFamily="34" charset="-122"/>
                <a:cs typeface="Calibri" pitchFamily="34" charset="-120"/>
              </a:rPr>
              <a:t>DATA ENTRY ACCURACY</a:t>
            </a:r>
            <a:endParaRPr lang="en-US" sz="1400" dirty="0"/>
          </a:p>
        </p:txBody>
      </p:sp>
      <p:sp>
        <p:nvSpPr>
          <p:cNvPr id="4" name="Text 2"/>
          <p:cNvSpPr/>
          <p:nvPr/>
        </p:nvSpPr>
        <p:spPr>
          <a:xfrm>
            <a:off x="822960" y="3108960"/>
            <a:ext cx="10515600" cy="91440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Entering Plate Information Correctly</a:t>
            </a:r>
            <a:endParaRPr lang="en-US" sz="3600" dirty="0"/>
          </a:p>
        </p:txBody>
      </p:sp>
      <p:sp>
        <p:nvSpPr>
          <p:cNvPr id="5" name="Text 3"/>
          <p:cNvSpPr/>
          <p:nvPr/>
        </p:nvSpPr>
        <p:spPr>
          <a:xfrm>
            <a:off x="822960" y="3977640"/>
            <a:ext cx="9784080" cy="822960"/>
          </a:xfrm>
          <a:prstGeom prst="rect">
            <a:avLst/>
          </a:prstGeom>
          <a:noFill/>
          <a:ln/>
        </p:spPr>
        <p:txBody>
          <a:bodyPr wrap="square" rtlCol="0" anchor="ctr"/>
          <a:lstStyle/>
          <a:p>
            <a:pPr marL="0" indent="0">
              <a:buNone/>
            </a:pPr>
            <a:r>
              <a:rPr lang="en-US" sz="1600" dirty="0">
                <a:solidFill>
                  <a:srgbClr val="CADCFC"/>
                </a:solidFill>
                <a:latin typeface="Calibri" pitchFamily="34" charset="0"/>
                <a:ea typeface="Calibri" pitchFamily="34" charset="-122"/>
                <a:cs typeface="Calibri" pitchFamily="34" charset="-120"/>
              </a:rPr>
              <a:t>These are real examples where the plate information was entered differently by different reviewers that were processed incorrectly and resulted in charge issues that requires the customer to dispute and complain to correct. Compare each entry against the image and decide which is correct.</a:t>
            </a:r>
            <a:endParaRPr lang="en-US" sz="1600" dirty="0"/>
          </a:p>
        </p:txBody>
      </p:sp>
      <p:sp>
        <p:nvSpPr>
          <p:cNvPr id="6" name="Text 4"/>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A93A3"/>
                </a:solidFill>
                <a:latin typeface="Calibri" pitchFamily="34" charset="0"/>
                <a:ea typeface="Calibri" pitchFamily="34" charset="-122"/>
                <a:cs typeface="Calibri" pitchFamily="34" charset="-120"/>
              </a:rPr>
              <a:t>Vanity Plates Training</a:t>
            </a:r>
            <a:endParaRPr lang="en-US" sz="1000" dirty="0"/>
          </a:p>
        </p:txBody>
      </p:sp>
      <p:sp>
        <p:nvSpPr>
          <p:cNvPr id="7" name="Text 5"/>
          <p:cNvSpPr/>
          <p:nvPr/>
        </p:nvSpPr>
        <p:spPr>
          <a:xfrm>
            <a:off x="11277295" y="6537960"/>
            <a:ext cx="457200" cy="274320"/>
          </a:xfrm>
          <a:prstGeom prst="rect">
            <a:avLst/>
          </a:prstGeom>
          <a:noFill/>
          <a:ln/>
        </p:spPr>
        <p:txBody>
          <a:bodyPr wrap="square" rtlCol="0" anchor="ctr"/>
          <a:lstStyle/>
          <a:p>
            <a:pPr marL="0" indent="0" algn="r">
              <a:buNone/>
            </a:pPr>
            <a:r>
              <a:rPr lang="en-US" sz="1000" dirty="0">
                <a:solidFill>
                  <a:srgbClr val="8A93A3"/>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E2761"/>
          </a:solidFill>
          <a:ln/>
        </p:spPr>
        <p:txBody>
          <a:bodyPr/>
          <a:lstStyle/>
          <a:p>
            <a:endParaRPr lang="en-US"/>
          </a:p>
        </p:txBody>
      </p:sp>
      <p:sp>
        <p:nvSpPr>
          <p:cNvPr id="3" name="Text 1"/>
          <p:cNvSpPr/>
          <p:nvPr/>
        </p:nvSpPr>
        <p:spPr>
          <a:xfrm>
            <a:off x="1051560" y="320040"/>
            <a:ext cx="7315200" cy="274320"/>
          </a:xfrm>
          <a:prstGeom prst="rect">
            <a:avLst/>
          </a:prstGeom>
          <a:noFill/>
          <a:ln/>
        </p:spPr>
        <p:txBody>
          <a:bodyPr wrap="square" rtlCol="0" anchor="ctr"/>
          <a:lstStyle/>
          <a:p>
            <a:pPr marL="0" indent="0">
              <a:buNone/>
            </a:pPr>
            <a:r>
              <a:rPr lang="en-US" sz="1200" b="1" kern="0" spc="150" dirty="0">
                <a:solidFill>
                  <a:srgbClr val="1E2761"/>
                </a:solidFill>
                <a:latin typeface="Calibri" pitchFamily="34" charset="0"/>
                <a:ea typeface="Calibri" pitchFamily="34" charset="-122"/>
                <a:cs typeface="Calibri" pitchFamily="34" charset="-120"/>
              </a:rPr>
              <a:t>ENTRY EXAMPLE 1</a:t>
            </a:r>
            <a:endParaRPr lang="en-US" sz="1200" dirty="0"/>
          </a:p>
        </p:txBody>
      </p:sp>
      <p:sp>
        <p:nvSpPr>
          <p:cNvPr id="4" name="Text 2"/>
          <p:cNvSpPr/>
          <p:nvPr/>
        </p:nvSpPr>
        <p:spPr>
          <a:xfrm>
            <a:off x="1051560" y="566928"/>
            <a:ext cx="10241280" cy="548640"/>
          </a:xfrm>
          <a:prstGeom prst="rect">
            <a:avLst/>
          </a:prstGeom>
          <a:noFill/>
          <a:ln/>
        </p:spPr>
        <p:txBody>
          <a:bodyPr wrap="square" rtlCol="0" anchor="ctr"/>
          <a:lstStyle/>
          <a:p>
            <a:pPr marL="0" indent="0">
              <a:buNone/>
            </a:pPr>
            <a:r>
              <a:rPr lang="en-US" sz="2800" b="1" dirty="0">
                <a:solidFill>
                  <a:srgbClr val="141A45"/>
                </a:solidFill>
                <a:latin typeface="Cambria" pitchFamily="34" charset="0"/>
                <a:ea typeface="Cambria" pitchFamily="34" charset="-122"/>
                <a:cs typeface="Cambria" pitchFamily="34" charset="-120"/>
              </a:rPr>
              <a:t>Which Entry Is Correct?</a:t>
            </a:r>
            <a:endParaRPr lang="en-US" sz="2800" dirty="0"/>
          </a:p>
        </p:txBody>
      </p:sp>
      <p:sp>
        <p:nvSpPr>
          <p:cNvPr id="5" name="Shape 3"/>
          <p:cNvSpPr/>
          <p:nvPr/>
        </p:nvSpPr>
        <p:spPr>
          <a:xfrm>
            <a:off x="457200" y="1554480"/>
            <a:ext cx="6949440" cy="3657600"/>
          </a:xfrm>
          <a:prstGeom prst="rect">
            <a:avLst/>
          </a:prstGeom>
          <a:solidFill>
            <a:srgbClr val="F4F6FA"/>
          </a:solidFill>
          <a:ln w="12700">
            <a:solidFill>
              <a:srgbClr val="CADCFC"/>
            </a:solidFill>
            <a:prstDash val="solid"/>
          </a:ln>
        </p:spPr>
        <p:txBody>
          <a:bodyPr/>
          <a:lstStyle/>
          <a:p>
            <a:endParaRPr lang="en-US" dirty="0"/>
          </a:p>
        </p:txBody>
      </p:sp>
      <p:pic>
        <p:nvPicPr>
          <p:cNvPr id="6" name="Image 0" descr="/home/claude/vanity_deck/images/1788356707915_image.png"/>
          <p:cNvPicPr>
            <a:picLocks noChangeAspect="1"/>
          </p:cNvPicPr>
          <p:nvPr/>
        </p:nvPicPr>
        <p:blipFill>
          <a:blip r:embed="rId3"/>
          <a:stretch>
            <a:fillRect/>
          </a:stretch>
        </p:blipFill>
        <p:spPr>
          <a:xfrm>
            <a:off x="594360" y="1840914"/>
            <a:ext cx="6675120" cy="967892"/>
          </a:xfrm>
          <a:prstGeom prst="rect">
            <a:avLst/>
          </a:prstGeom>
        </p:spPr>
      </p:pic>
      <p:sp>
        <p:nvSpPr>
          <p:cNvPr id="7" name="Text 4"/>
          <p:cNvSpPr/>
          <p:nvPr/>
        </p:nvSpPr>
        <p:spPr>
          <a:xfrm>
            <a:off x="7635240" y="1554480"/>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Submitted entries:</a:t>
            </a:r>
            <a:endParaRPr lang="en-US" sz="1200" dirty="0"/>
          </a:p>
        </p:txBody>
      </p:sp>
      <p:sp>
        <p:nvSpPr>
          <p:cNvPr id="8" name="Shape 5"/>
          <p:cNvSpPr/>
          <p:nvPr/>
        </p:nvSpPr>
        <p:spPr>
          <a:xfrm>
            <a:off x="7635240" y="2861484"/>
            <a:ext cx="4069080" cy="777240"/>
          </a:xfrm>
          <a:prstGeom prst="rect">
            <a:avLst/>
          </a:prstGeom>
          <a:solidFill>
            <a:srgbClr val="EAF1FE"/>
          </a:solidFill>
          <a:ln w="12700">
            <a:solidFill>
              <a:srgbClr val="CADCFC"/>
            </a:solidFill>
            <a:prstDash val="solid"/>
          </a:ln>
        </p:spPr>
        <p:txBody>
          <a:bodyPr/>
          <a:lstStyle/>
          <a:p>
            <a:endParaRPr lang="en-US"/>
          </a:p>
        </p:txBody>
      </p:sp>
      <p:pic>
        <p:nvPicPr>
          <p:cNvPr id="9" name="Image 1" descr="/home/claude/vanity_deck/images/1788356739183_image.png"/>
          <p:cNvPicPr>
            <a:picLocks noChangeAspect="1"/>
          </p:cNvPicPr>
          <p:nvPr/>
        </p:nvPicPr>
        <p:blipFill>
          <a:blip r:embed="rId4"/>
          <a:stretch>
            <a:fillRect/>
          </a:stretch>
        </p:blipFill>
        <p:spPr>
          <a:xfrm>
            <a:off x="8140867" y="2952924"/>
            <a:ext cx="3057826" cy="594360"/>
          </a:xfrm>
          <a:prstGeom prst="rect">
            <a:avLst/>
          </a:prstGeom>
        </p:spPr>
      </p:pic>
      <p:sp>
        <p:nvSpPr>
          <p:cNvPr id="10" name="Shape 6"/>
          <p:cNvSpPr/>
          <p:nvPr/>
        </p:nvSpPr>
        <p:spPr>
          <a:xfrm>
            <a:off x="7635240" y="3705137"/>
            <a:ext cx="4069080" cy="777240"/>
          </a:xfrm>
          <a:prstGeom prst="rect">
            <a:avLst/>
          </a:prstGeom>
          <a:solidFill>
            <a:srgbClr val="EAF1FE"/>
          </a:solidFill>
          <a:ln w="12700">
            <a:solidFill>
              <a:srgbClr val="CADCFC"/>
            </a:solidFill>
            <a:prstDash val="solid"/>
          </a:ln>
        </p:spPr>
        <p:txBody>
          <a:bodyPr/>
          <a:lstStyle/>
          <a:p>
            <a:endParaRPr lang="en-US"/>
          </a:p>
        </p:txBody>
      </p:sp>
      <p:pic>
        <p:nvPicPr>
          <p:cNvPr id="11" name="Image 2" descr="/home/claude/vanity_deck/images/1788356756790_image.png"/>
          <p:cNvPicPr>
            <a:picLocks noChangeAspect="1"/>
          </p:cNvPicPr>
          <p:nvPr/>
        </p:nvPicPr>
        <p:blipFill>
          <a:blip r:embed="rId5"/>
          <a:stretch>
            <a:fillRect/>
          </a:stretch>
        </p:blipFill>
        <p:spPr>
          <a:xfrm>
            <a:off x="8123641" y="3796577"/>
            <a:ext cx="3092278" cy="594360"/>
          </a:xfrm>
          <a:prstGeom prst="rect">
            <a:avLst/>
          </a:prstGeom>
        </p:spPr>
      </p:pic>
      <p:sp>
        <p:nvSpPr>
          <p:cNvPr id="12" name="Text 7"/>
          <p:cNvSpPr/>
          <p:nvPr/>
        </p:nvSpPr>
        <p:spPr>
          <a:xfrm>
            <a:off x="7635240" y="4562562"/>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Correct entry &amp; why the others are wrong:</a:t>
            </a:r>
            <a:endParaRPr lang="en-US" sz="1200" dirty="0"/>
          </a:p>
        </p:txBody>
      </p:sp>
      <p:sp>
        <p:nvSpPr>
          <p:cNvPr id="13" name="Shape 8"/>
          <p:cNvSpPr/>
          <p:nvPr/>
        </p:nvSpPr>
        <p:spPr>
          <a:xfrm>
            <a:off x="7665415" y="4894092"/>
            <a:ext cx="4069080" cy="1801486"/>
          </a:xfrm>
          <a:prstGeom prst="rect">
            <a:avLst/>
          </a:prstGeom>
          <a:solidFill>
            <a:srgbClr val="FFFFFF"/>
          </a:solidFill>
          <a:ln w="12700">
            <a:solidFill>
              <a:srgbClr val="8A93A3"/>
            </a:solidFill>
            <a:prstDash val="dash"/>
          </a:ln>
        </p:spPr>
        <p:txBody>
          <a:bodyPr/>
          <a:lstStyle/>
          <a:p>
            <a:r>
              <a:rPr lang="en-US" dirty="0"/>
              <a:t>1 rep selected Q correctly and 2 reps selected G instead of Q and C instead of G.</a:t>
            </a:r>
          </a:p>
          <a:p>
            <a:endParaRPr lang="en-US" dirty="0"/>
          </a:p>
          <a:p>
            <a:r>
              <a:rPr lang="en-US" dirty="0"/>
              <a:t>This resulted in billing the wrong person.</a:t>
            </a:r>
          </a:p>
        </p:txBody>
      </p:sp>
      <p:sp>
        <p:nvSpPr>
          <p:cNvPr id="17" name="Text 12"/>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A93A3"/>
                </a:solidFill>
                <a:latin typeface="Calibri" pitchFamily="34" charset="0"/>
                <a:ea typeface="Calibri" pitchFamily="34" charset="-122"/>
                <a:cs typeface="Calibri" pitchFamily="34" charset="-120"/>
              </a:rPr>
              <a:t>Vanity Plates Training</a:t>
            </a:r>
            <a:endParaRPr lang="en-US" sz="1000" dirty="0"/>
          </a:p>
        </p:txBody>
      </p:sp>
      <p:sp>
        <p:nvSpPr>
          <p:cNvPr id="18" name="Text 13"/>
          <p:cNvSpPr/>
          <p:nvPr/>
        </p:nvSpPr>
        <p:spPr>
          <a:xfrm>
            <a:off x="11277295" y="6537960"/>
            <a:ext cx="457200" cy="274320"/>
          </a:xfrm>
          <a:prstGeom prst="rect">
            <a:avLst/>
          </a:prstGeom>
          <a:noFill/>
          <a:ln/>
        </p:spPr>
        <p:txBody>
          <a:bodyPr wrap="square" rtlCol="0" anchor="ctr"/>
          <a:lstStyle/>
          <a:p>
            <a:pPr marL="0" indent="0" algn="r">
              <a:buNone/>
            </a:pPr>
            <a:r>
              <a:rPr lang="en-US" sz="1000" dirty="0">
                <a:solidFill>
                  <a:srgbClr val="8A93A3"/>
                </a:solidFill>
                <a:latin typeface="Calibri" pitchFamily="34" charset="0"/>
                <a:ea typeface="Calibri" pitchFamily="34" charset="-122"/>
                <a:cs typeface="Calibri" pitchFamily="34" charset="-120"/>
              </a:rPr>
              <a:t>22</a:t>
            </a:r>
            <a:endParaRPr lang="en-US" sz="1000" dirty="0"/>
          </a:p>
        </p:txBody>
      </p:sp>
      <p:pic>
        <p:nvPicPr>
          <p:cNvPr id="20" name="Picture 19">
            <a:extLst>
              <a:ext uri="{FF2B5EF4-FFF2-40B4-BE49-F238E27FC236}">
                <a16:creationId xmlns:a16="http://schemas.microsoft.com/office/drawing/2014/main" id="{9812ED14-2A88-A52C-DEB2-AC1E7B064B1C}"/>
              </a:ext>
            </a:extLst>
          </p:cNvPr>
          <p:cNvPicPr>
            <a:picLocks noChangeAspect="1"/>
          </p:cNvPicPr>
          <p:nvPr/>
        </p:nvPicPr>
        <p:blipFill>
          <a:blip r:embed="rId6"/>
          <a:stretch>
            <a:fillRect/>
          </a:stretch>
        </p:blipFill>
        <p:spPr>
          <a:xfrm>
            <a:off x="1794102" y="3037406"/>
            <a:ext cx="4301898" cy="1955409"/>
          </a:xfrm>
          <a:prstGeom prst="rect">
            <a:avLst/>
          </a:prstGeom>
        </p:spPr>
      </p:pic>
      <p:sp>
        <p:nvSpPr>
          <p:cNvPr id="22" name="Shape 6">
            <a:extLst>
              <a:ext uri="{FF2B5EF4-FFF2-40B4-BE49-F238E27FC236}">
                <a16:creationId xmlns:a16="http://schemas.microsoft.com/office/drawing/2014/main" id="{452EA2FA-2153-38E0-59E6-3CC0A22DAD2E}"/>
              </a:ext>
            </a:extLst>
          </p:cNvPr>
          <p:cNvSpPr/>
          <p:nvPr/>
        </p:nvSpPr>
        <p:spPr>
          <a:xfrm>
            <a:off x="7635240" y="2003033"/>
            <a:ext cx="4069080" cy="777240"/>
          </a:xfrm>
          <a:prstGeom prst="rect">
            <a:avLst/>
          </a:prstGeom>
          <a:solidFill>
            <a:srgbClr val="EAF1FE"/>
          </a:solidFill>
          <a:ln w="12700">
            <a:solidFill>
              <a:srgbClr val="CADCFC"/>
            </a:solidFill>
            <a:prstDash val="solid"/>
          </a:ln>
        </p:spPr>
        <p:txBody>
          <a:bodyPr/>
          <a:lstStyle/>
          <a:p>
            <a:endParaRPr lang="en-US"/>
          </a:p>
        </p:txBody>
      </p:sp>
      <p:pic>
        <p:nvPicPr>
          <p:cNvPr id="24" name="Image 2" descr="/home/claude/vanity_deck/images/1788356756790_image.png">
            <a:extLst>
              <a:ext uri="{FF2B5EF4-FFF2-40B4-BE49-F238E27FC236}">
                <a16:creationId xmlns:a16="http://schemas.microsoft.com/office/drawing/2014/main" id="{31C33930-1680-F9C2-B8C7-A742BA819593}"/>
              </a:ext>
            </a:extLst>
          </p:cNvPr>
          <p:cNvPicPr>
            <a:picLocks noChangeAspect="1"/>
          </p:cNvPicPr>
          <p:nvPr/>
        </p:nvPicPr>
        <p:blipFill>
          <a:blip r:embed="rId5"/>
          <a:stretch>
            <a:fillRect/>
          </a:stretch>
        </p:blipFill>
        <p:spPr>
          <a:xfrm>
            <a:off x="8123641" y="2094473"/>
            <a:ext cx="3092278" cy="594360"/>
          </a:xfrm>
          <a:prstGeom prst="rect">
            <a:avLst/>
          </a:prstGeom>
        </p:spPr>
      </p:pic>
      <p:sp>
        <p:nvSpPr>
          <p:cNvPr id="28" name="Shape 8">
            <a:extLst>
              <a:ext uri="{FF2B5EF4-FFF2-40B4-BE49-F238E27FC236}">
                <a16:creationId xmlns:a16="http://schemas.microsoft.com/office/drawing/2014/main" id="{3F770159-7174-1A57-2C87-A724971316A9}"/>
              </a:ext>
            </a:extLst>
          </p:cNvPr>
          <p:cNvSpPr/>
          <p:nvPr/>
        </p:nvSpPr>
        <p:spPr>
          <a:xfrm>
            <a:off x="457200" y="5752965"/>
            <a:ext cx="6949440" cy="667703"/>
          </a:xfrm>
          <a:prstGeom prst="rect">
            <a:avLst/>
          </a:prstGeom>
          <a:solidFill>
            <a:srgbClr val="FFFFFF"/>
          </a:solidFill>
          <a:ln w="12700">
            <a:solidFill>
              <a:srgbClr val="8A93A3"/>
            </a:solidFill>
            <a:prstDash val="dash"/>
          </a:ln>
        </p:spPr>
        <p:txBody>
          <a:bodyPr/>
          <a:lstStyle/>
          <a:p>
            <a:pPr marL="285750" indent="-285750">
              <a:buFontTx/>
              <a:buChar char="-"/>
            </a:pPr>
            <a:r>
              <a:rPr lang="en-US" dirty="0"/>
              <a:t>Slow down and ensure the correct information is being entered. </a:t>
            </a:r>
          </a:p>
          <a:p>
            <a:pPr marL="285750" indent="-285750">
              <a:buFontTx/>
              <a:buChar char="-"/>
            </a:pPr>
            <a:r>
              <a:rPr lang="en-US" dirty="0"/>
              <a:t>Be aware of Q’s, C’s, 6’s and G’s as these can be mixed up easily.</a:t>
            </a:r>
          </a:p>
        </p:txBody>
      </p:sp>
      <p:sp>
        <p:nvSpPr>
          <p:cNvPr id="30" name="Text 8">
            <a:extLst>
              <a:ext uri="{FF2B5EF4-FFF2-40B4-BE49-F238E27FC236}">
                <a16:creationId xmlns:a16="http://schemas.microsoft.com/office/drawing/2014/main" id="{C1D41B51-7BB4-5F8F-9858-CB82AE196C63}"/>
              </a:ext>
            </a:extLst>
          </p:cNvPr>
          <p:cNvSpPr/>
          <p:nvPr/>
        </p:nvSpPr>
        <p:spPr>
          <a:xfrm>
            <a:off x="457200" y="5413101"/>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How to improve:</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500" fill="hold"/>
                                        <p:tgtEl>
                                          <p:spTgt spid="30"/>
                                        </p:tgtEl>
                                        <p:attrNameLst>
                                          <p:attrName>ppt_x</p:attrName>
                                        </p:attrNameLst>
                                      </p:cBhvr>
                                      <p:tavLst>
                                        <p:tav tm="0">
                                          <p:val>
                                            <p:strVal val="#ppt_x"/>
                                          </p:val>
                                        </p:tav>
                                        <p:tav tm="100000">
                                          <p:val>
                                            <p:strVal val="#ppt_x"/>
                                          </p:val>
                                        </p:tav>
                                      </p:tavLst>
                                    </p:anim>
                                    <p:anim calcmode="lin" valueType="num">
                                      <p:cBhvr additive="base">
                                        <p:cTn id="12" dur="500" fill="hold"/>
                                        <p:tgtEl>
                                          <p:spTgt spid="3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8" grpId="0" animBg="1"/>
      <p:bldP spid="3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D97706"/>
          </a:solidFill>
          <a:ln/>
        </p:spPr>
        <p:txBody>
          <a:bodyPr/>
          <a:lstStyle/>
          <a:p>
            <a:endParaRPr lang="en-US"/>
          </a:p>
        </p:txBody>
      </p:sp>
      <p:sp>
        <p:nvSpPr>
          <p:cNvPr id="3" name="Text 1"/>
          <p:cNvSpPr/>
          <p:nvPr/>
        </p:nvSpPr>
        <p:spPr>
          <a:xfrm>
            <a:off x="1051560" y="320040"/>
            <a:ext cx="7315200" cy="274320"/>
          </a:xfrm>
          <a:prstGeom prst="rect">
            <a:avLst/>
          </a:prstGeom>
          <a:noFill/>
          <a:ln/>
        </p:spPr>
        <p:txBody>
          <a:bodyPr wrap="square" rtlCol="0" anchor="ctr"/>
          <a:lstStyle/>
          <a:p>
            <a:pPr marL="0" indent="0">
              <a:buNone/>
            </a:pPr>
            <a:r>
              <a:rPr lang="en-US" sz="1200" b="1" kern="0" spc="150" dirty="0">
                <a:solidFill>
                  <a:srgbClr val="D97706"/>
                </a:solidFill>
                <a:latin typeface="Calibri" pitchFamily="34" charset="0"/>
                <a:ea typeface="Calibri" pitchFamily="34" charset="-122"/>
                <a:cs typeface="Calibri" pitchFamily="34" charset="-120"/>
              </a:rPr>
              <a:t>ENTRY EXAMPLE 2</a:t>
            </a:r>
            <a:endParaRPr lang="en-US" sz="1200" dirty="0"/>
          </a:p>
        </p:txBody>
      </p:sp>
      <p:sp>
        <p:nvSpPr>
          <p:cNvPr id="4" name="Text 2"/>
          <p:cNvSpPr/>
          <p:nvPr/>
        </p:nvSpPr>
        <p:spPr>
          <a:xfrm>
            <a:off x="1051560" y="566928"/>
            <a:ext cx="10241280" cy="548640"/>
          </a:xfrm>
          <a:prstGeom prst="rect">
            <a:avLst/>
          </a:prstGeom>
          <a:noFill/>
          <a:ln/>
        </p:spPr>
        <p:txBody>
          <a:bodyPr wrap="square" rtlCol="0" anchor="ctr"/>
          <a:lstStyle/>
          <a:p>
            <a:pPr marL="0" indent="0">
              <a:buNone/>
            </a:pPr>
            <a:r>
              <a:rPr lang="en-US" sz="2800" b="1" dirty="0">
                <a:solidFill>
                  <a:srgbClr val="141A45"/>
                </a:solidFill>
                <a:latin typeface="Cambria" pitchFamily="34" charset="0"/>
                <a:ea typeface="Cambria" pitchFamily="34" charset="-122"/>
                <a:cs typeface="Cambria" pitchFamily="34" charset="-120"/>
              </a:rPr>
              <a:t>Which Entry Is Correct?</a:t>
            </a:r>
            <a:endParaRPr lang="en-US" sz="2800" dirty="0"/>
          </a:p>
        </p:txBody>
      </p:sp>
      <p:sp>
        <p:nvSpPr>
          <p:cNvPr id="5" name="Shape 3"/>
          <p:cNvSpPr/>
          <p:nvPr/>
        </p:nvSpPr>
        <p:spPr>
          <a:xfrm>
            <a:off x="457200" y="1554480"/>
            <a:ext cx="6949440" cy="3657600"/>
          </a:xfrm>
          <a:prstGeom prst="rect">
            <a:avLst/>
          </a:prstGeom>
          <a:solidFill>
            <a:srgbClr val="F4F6FA"/>
          </a:solidFill>
          <a:ln w="12700">
            <a:solidFill>
              <a:srgbClr val="CADCFC"/>
            </a:solidFill>
            <a:prstDash val="solid"/>
          </a:ln>
        </p:spPr>
        <p:txBody>
          <a:bodyPr/>
          <a:lstStyle/>
          <a:p>
            <a:endParaRPr lang="en-US"/>
          </a:p>
        </p:txBody>
      </p:sp>
      <p:pic>
        <p:nvPicPr>
          <p:cNvPr id="6" name="Image 0" descr="/home/claude/vanity_deck/images/1788356795290_image.png"/>
          <p:cNvPicPr>
            <a:picLocks noChangeAspect="1"/>
          </p:cNvPicPr>
          <p:nvPr/>
        </p:nvPicPr>
        <p:blipFill>
          <a:blip r:embed="rId3"/>
          <a:stretch>
            <a:fillRect/>
          </a:stretch>
        </p:blipFill>
        <p:spPr>
          <a:xfrm>
            <a:off x="594360" y="1739037"/>
            <a:ext cx="6675120" cy="976731"/>
          </a:xfrm>
          <a:prstGeom prst="rect">
            <a:avLst/>
          </a:prstGeom>
        </p:spPr>
      </p:pic>
      <p:sp>
        <p:nvSpPr>
          <p:cNvPr id="7" name="Text 4"/>
          <p:cNvSpPr/>
          <p:nvPr/>
        </p:nvSpPr>
        <p:spPr>
          <a:xfrm>
            <a:off x="7635240" y="1554480"/>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Submitted entries:</a:t>
            </a:r>
            <a:endParaRPr lang="en-US" sz="1200" dirty="0"/>
          </a:p>
        </p:txBody>
      </p:sp>
      <p:sp>
        <p:nvSpPr>
          <p:cNvPr id="8" name="Shape 5"/>
          <p:cNvSpPr/>
          <p:nvPr/>
        </p:nvSpPr>
        <p:spPr>
          <a:xfrm>
            <a:off x="7635240" y="1874520"/>
            <a:ext cx="4069080" cy="777240"/>
          </a:xfrm>
          <a:prstGeom prst="rect">
            <a:avLst/>
          </a:prstGeom>
          <a:solidFill>
            <a:srgbClr val="EAF1FE"/>
          </a:solidFill>
          <a:ln w="12700">
            <a:solidFill>
              <a:srgbClr val="CADCFC"/>
            </a:solidFill>
            <a:prstDash val="solid"/>
          </a:ln>
        </p:spPr>
        <p:txBody>
          <a:bodyPr/>
          <a:lstStyle/>
          <a:p>
            <a:endParaRPr lang="en-US"/>
          </a:p>
        </p:txBody>
      </p:sp>
      <p:pic>
        <p:nvPicPr>
          <p:cNvPr id="9" name="Image 1" descr="/home/claude/vanity_deck/images/1788356821527_image.png"/>
          <p:cNvPicPr>
            <a:picLocks noChangeAspect="1"/>
          </p:cNvPicPr>
          <p:nvPr/>
        </p:nvPicPr>
        <p:blipFill>
          <a:blip r:embed="rId4"/>
          <a:stretch>
            <a:fillRect/>
          </a:stretch>
        </p:blipFill>
        <p:spPr>
          <a:xfrm>
            <a:off x="8108594" y="1965960"/>
            <a:ext cx="3122371" cy="594360"/>
          </a:xfrm>
          <a:prstGeom prst="rect">
            <a:avLst/>
          </a:prstGeom>
        </p:spPr>
      </p:pic>
      <p:sp>
        <p:nvSpPr>
          <p:cNvPr id="10" name="Shape 6"/>
          <p:cNvSpPr/>
          <p:nvPr/>
        </p:nvSpPr>
        <p:spPr>
          <a:xfrm>
            <a:off x="7635240" y="2788920"/>
            <a:ext cx="4069080" cy="777240"/>
          </a:xfrm>
          <a:prstGeom prst="rect">
            <a:avLst/>
          </a:prstGeom>
          <a:solidFill>
            <a:srgbClr val="EAF1FE"/>
          </a:solidFill>
          <a:ln w="12700">
            <a:solidFill>
              <a:srgbClr val="CADCFC"/>
            </a:solidFill>
            <a:prstDash val="solid"/>
          </a:ln>
        </p:spPr>
        <p:txBody>
          <a:bodyPr/>
          <a:lstStyle/>
          <a:p>
            <a:endParaRPr lang="en-US"/>
          </a:p>
        </p:txBody>
      </p:sp>
      <p:pic>
        <p:nvPicPr>
          <p:cNvPr id="11" name="Image 2" descr="/home/claude/vanity_deck/images/1788356843771_image.png"/>
          <p:cNvPicPr>
            <a:picLocks noChangeAspect="1"/>
          </p:cNvPicPr>
          <p:nvPr/>
        </p:nvPicPr>
        <p:blipFill>
          <a:blip r:embed="rId5"/>
          <a:stretch>
            <a:fillRect/>
          </a:stretch>
        </p:blipFill>
        <p:spPr>
          <a:xfrm>
            <a:off x="8275602" y="2880360"/>
            <a:ext cx="2788356" cy="594360"/>
          </a:xfrm>
          <a:prstGeom prst="rect">
            <a:avLst/>
          </a:prstGeom>
        </p:spPr>
      </p:pic>
      <p:sp>
        <p:nvSpPr>
          <p:cNvPr id="12" name="Shape 7"/>
          <p:cNvSpPr/>
          <p:nvPr/>
        </p:nvSpPr>
        <p:spPr>
          <a:xfrm>
            <a:off x="7635240" y="3703320"/>
            <a:ext cx="4069080" cy="777240"/>
          </a:xfrm>
          <a:prstGeom prst="rect">
            <a:avLst/>
          </a:prstGeom>
          <a:solidFill>
            <a:srgbClr val="EAF1FE"/>
          </a:solidFill>
          <a:ln w="12700">
            <a:solidFill>
              <a:srgbClr val="CADCFC"/>
            </a:solidFill>
            <a:prstDash val="solid"/>
          </a:ln>
        </p:spPr>
        <p:txBody>
          <a:bodyPr/>
          <a:lstStyle/>
          <a:p>
            <a:endParaRPr lang="en-US"/>
          </a:p>
        </p:txBody>
      </p:sp>
      <p:pic>
        <p:nvPicPr>
          <p:cNvPr id="13" name="Image 3" descr="/home/claude/vanity_deck/images/1788356854851_image.png"/>
          <p:cNvPicPr>
            <a:picLocks noChangeAspect="1"/>
          </p:cNvPicPr>
          <p:nvPr/>
        </p:nvPicPr>
        <p:blipFill>
          <a:blip r:embed="rId6"/>
          <a:stretch>
            <a:fillRect/>
          </a:stretch>
        </p:blipFill>
        <p:spPr>
          <a:xfrm>
            <a:off x="8183880" y="3794760"/>
            <a:ext cx="2971800" cy="594360"/>
          </a:xfrm>
          <a:prstGeom prst="rect">
            <a:avLst/>
          </a:prstGeom>
        </p:spPr>
      </p:pic>
      <p:sp>
        <p:nvSpPr>
          <p:cNvPr id="14" name="Text 8"/>
          <p:cNvSpPr/>
          <p:nvPr/>
        </p:nvSpPr>
        <p:spPr>
          <a:xfrm>
            <a:off x="7635240" y="4663440"/>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Correct entry &amp; why the others are wrong:</a:t>
            </a:r>
            <a:endParaRPr lang="en-US" sz="1200" dirty="0"/>
          </a:p>
        </p:txBody>
      </p:sp>
      <p:sp>
        <p:nvSpPr>
          <p:cNvPr id="19" name="Text 13"/>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A93A3"/>
                </a:solidFill>
                <a:latin typeface="Calibri" pitchFamily="34" charset="0"/>
                <a:ea typeface="Calibri" pitchFamily="34" charset="-122"/>
                <a:cs typeface="Calibri" pitchFamily="34" charset="-120"/>
              </a:rPr>
              <a:t>Vanity Plates Training</a:t>
            </a:r>
            <a:endParaRPr lang="en-US" sz="1000" dirty="0"/>
          </a:p>
        </p:txBody>
      </p:sp>
      <p:sp>
        <p:nvSpPr>
          <p:cNvPr id="20" name="Text 14"/>
          <p:cNvSpPr/>
          <p:nvPr/>
        </p:nvSpPr>
        <p:spPr>
          <a:xfrm>
            <a:off x="11277295" y="6537960"/>
            <a:ext cx="457200" cy="274320"/>
          </a:xfrm>
          <a:prstGeom prst="rect">
            <a:avLst/>
          </a:prstGeom>
          <a:noFill/>
          <a:ln/>
        </p:spPr>
        <p:txBody>
          <a:bodyPr wrap="square" rtlCol="0" anchor="ctr"/>
          <a:lstStyle/>
          <a:p>
            <a:pPr marL="0" indent="0" algn="r">
              <a:buNone/>
            </a:pPr>
            <a:r>
              <a:rPr lang="en-US" sz="1000" dirty="0">
                <a:solidFill>
                  <a:srgbClr val="8A93A3"/>
                </a:solidFill>
                <a:latin typeface="Calibri" pitchFamily="34" charset="0"/>
                <a:ea typeface="Calibri" pitchFamily="34" charset="-122"/>
                <a:cs typeface="Calibri" pitchFamily="34" charset="-120"/>
              </a:rPr>
              <a:t>23</a:t>
            </a:r>
            <a:endParaRPr lang="en-US" sz="1000" dirty="0"/>
          </a:p>
        </p:txBody>
      </p:sp>
      <p:pic>
        <p:nvPicPr>
          <p:cNvPr id="22" name="Picture 21">
            <a:extLst>
              <a:ext uri="{FF2B5EF4-FFF2-40B4-BE49-F238E27FC236}">
                <a16:creationId xmlns:a16="http://schemas.microsoft.com/office/drawing/2014/main" id="{FA96F4FE-CCD0-2C6A-FDB1-77C1C94ED364}"/>
              </a:ext>
            </a:extLst>
          </p:cNvPr>
          <p:cNvPicPr>
            <a:picLocks noChangeAspect="1"/>
          </p:cNvPicPr>
          <p:nvPr/>
        </p:nvPicPr>
        <p:blipFill>
          <a:blip r:embed="rId7"/>
          <a:stretch>
            <a:fillRect/>
          </a:stretch>
        </p:blipFill>
        <p:spPr>
          <a:xfrm>
            <a:off x="1622335" y="2831776"/>
            <a:ext cx="4619170" cy="2264296"/>
          </a:xfrm>
          <a:prstGeom prst="rect">
            <a:avLst/>
          </a:prstGeom>
        </p:spPr>
      </p:pic>
      <p:sp>
        <p:nvSpPr>
          <p:cNvPr id="24" name="Shape 8">
            <a:extLst>
              <a:ext uri="{FF2B5EF4-FFF2-40B4-BE49-F238E27FC236}">
                <a16:creationId xmlns:a16="http://schemas.microsoft.com/office/drawing/2014/main" id="{434C7737-FCD9-34F5-8188-863E6CB674AC}"/>
              </a:ext>
            </a:extLst>
          </p:cNvPr>
          <p:cNvSpPr/>
          <p:nvPr/>
        </p:nvSpPr>
        <p:spPr>
          <a:xfrm>
            <a:off x="7635239" y="4937760"/>
            <a:ext cx="4069080" cy="1767840"/>
          </a:xfrm>
          <a:prstGeom prst="rect">
            <a:avLst/>
          </a:prstGeom>
          <a:solidFill>
            <a:srgbClr val="FFFFFF"/>
          </a:solidFill>
          <a:ln w="12700">
            <a:solidFill>
              <a:srgbClr val="8A93A3"/>
            </a:solidFill>
            <a:prstDash val="dash"/>
          </a:ln>
        </p:spPr>
        <p:txBody>
          <a:bodyPr/>
          <a:lstStyle/>
          <a:p>
            <a:r>
              <a:rPr lang="en-US" dirty="0"/>
              <a:t>This plate is using the special character for a zero with a slash. 2 reps selected an 8 instead of a 0, and 1 agent selected a 0.</a:t>
            </a:r>
          </a:p>
          <a:p>
            <a:endParaRPr lang="en-US" dirty="0"/>
          </a:p>
          <a:p>
            <a:r>
              <a:rPr lang="en-US" dirty="0"/>
              <a:t>This resulted in billing the wrong person.</a:t>
            </a:r>
          </a:p>
        </p:txBody>
      </p:sp>
      <p:sp>
        <p:nvSpPr>
          <p:cNvPr id="26" name="Text 8">
            <a:extLst>
              <a:ext uri="{FF2B5EF4-FFF2-40B4-BE49-F238E27FC236}">
                <a16:creationId xmlns:a16="http://schemas.microsoft.com/office/drawing/2014/main" id="{3E3B78C3-98B7-590B-5D4E-49B6A4BA9B2E}"/>
              </a:ext>
            </a:extLst>
          </p:cNvPr>
          <p:cNvSpPr/>
          <p:nvPr/>
        </p:nvSpPr>
        <p:spPr>
          <a:xfrm>
            <a:off x="457200" y="5403049"/>
            <a:ext cx="40690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How to improve:</a:t>
            </a:r>
            <a:endParaRPr lang="en-US" sz="1200" dirty="0"/>
          </a:p>
        </p:txBody>
      </p:sp>
      <p:sp>
        <p:nvSpPr>
          <p:cNvPr id="28" name="Shape 8">
            <a:extLst>
              <a:ext uri="{FF2B5EF4-FFF2-40B4-BE49-F238E27FC236}">
                <a16:creationId xmlns:a16="http://schemas.microsoft.com/office/drawing/2014/main" id="{305F9D69-7C1A-16E4-3238-285CEF5F0C60}"/>
              </a:ext>
            </a:extLst>
          </p:cNvPr>
          <p:cNvSpPr/>
          <p:nvPr/>
        </p:nvSpPr>
        <p:spPr>
          <a:xfrm>
            <a:off x="457200" y="5689086"/>
            <a:ext cx="6949440" cy="912882"/>
          </a:xfrm>
          <a:prstGeom prst="rect">
            <a:avLst/>
          </a:prstGeom>
          <a:solidFill>
            <a:srgbClr val="FFFFFF"/>
          </a:solidFill>
          <a:ln w="12700">
            <a:solidFill>
              <a:srgbClr val="8A93A3"/>
            </a:solidFill>
            <a:prstDash val="dash"/>
          </a:ln>
        </p:spPr>
        <p:txBody>
          <a:bodyPr/>
          <a:lstStyle/>
          <a:p>
            <a:pPr marL="285750" indent="-285750">
              <a:buFontTx/>
              <a:buChar char="-"/>
            </a:pPr>
            <a:r>
              <a:rPr lang="en-US" dirty="0"/>
              <a:t>Slow down and ensure the correct information is being entered. </a:t>
            </a:r>
          </a:p>
          <a:p>
            <a:pPr marL="285750" indent="-285750">
              <a:buFontTx/>
              <a:buChar char="-"/>
            </a:pPr>
            <a:r>
              <a:rPr lang="en-US" dirty="0"/>
              <a:t>Be aware of O’s, Zero’s, and 8’s as these can be mixed up easily.</a:t>
            </a:r>
          </a:p>
          <a:p>
            <a:pPr marL="285750" indent="-285750">
              <a:buFontTx/>
              <a:buChar char="-"/>
            </a:pPr>
            <a:r>
              <a:rPr lang="en-US" dirty="0"/>
              <a:t>Plate find can zoom in further on plates in help visibility.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cBhvr additive="base">
                                        <p:cTn id="11" dur="500" fill="hold"/>
                                        <p:tgtEl>
                                          <p:spTgt spid="28"/>
                                        </p:tgtEl>
                                        <p:attrNameLst>
                                          <p:attrName>ppt_x</p:attrName>
                                        </p:attrNameLst>
                                      </p:cBhvr>
                                      <p:tavLst>
                                        <p:tav tm="0">
                                          <p:val>
                                            <p:strVal val="#ppt_x"/>
                                          </p:val>
                                        </p:tav>
                                        <p:tav tm="100000">
                                          <p:val>
                                            <p:strVal val="#ppt_x"/>
                                          </p:val>
                                        </p:tav>
                                      </p:tavLst>
                                    </p:anim>
                                    <p:anim calcmode="lin" valueType="num">
                                      <p:cBhvr additive="base">
                                        <p:cTn id="12" dur="500" fill="hold"/>
                                        <p:tgtEl>
                                          <p:spTgt spid="2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 calcmode="lin" valueType="num">
                                      <p:cBhvr additive="base">
                                        <p:cTn id="15" dur="500" fill="hold"/>
                                        <p:tgtEl>
                                          <p:spTgt spid="24"/>
                                        </p:tgtEl>
                                        <p:attrNameLst>
                                          <p:attrName>ppt_x</p:attrName>
                                        </p:attrNameLst>
                                      </p:cBhvr>
                                      <p:tavLst>
                                        <p:tav tm="0">
                                          <p:val>
                                            <p:strVal val="#ppt_x"/>
                                          </p:val>
                                        </p:tav>
                                        <p:tav tm="100000">
                                          <p:val>
                                            <p:strVal val="#ppt_x"/>
                                          </p:val>
                                        </p:tav>
                                      </p:tavLst>
                                    </p:anim>
                                    <p:anim calcmode="lin" valueType="num">
                                      <p:cBhvr additive="base">
                                        <p:cTn id="1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animBg="1"/>
      <p:bldP spid="2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4114800"/>
            <a:ext cx="3840480" cy="3840480"/>
          </a:xfrm>
          <a:prstGeom prst="ellipse">
            <a:avLst/>
          </a:prstGeom>
          <a:solidFill>
            <a:srgbClr val="141A45"/>
          </a:solidFill>
          <a:ln/>
        </p:spPr>
        <p:txBody>
          <a:bodyPr/>
          <a:lstStyle/>
          <a:p>
            <a:endParaRPr lang="en-US"/>
          </a:p>
        </p:txBody>
      </p:sp>
      <p:sp>
        <p:nvSpPr>
          <p:cNvPr id="3" name="Text 1"/>
          <p:cNvSpPr/>
          <p:nvPr/>
        </p:nvSpPr>
        <p:spPr>
          <a:xfrm>
            <a:off x="822960" y="822960"/>
            <a:ext cx="9144000" cy="365760"/>
          </a:xfrm>
          <a:prstGeom prst="rect">
            <a:avLst/>
          </a:prstGeom>
          <a:noFill/>
          <a:ln/>
        </p:spPr>
        <p:txBody>
          <a:bodyPr wrap="square" rtlCol="0" anchor="ctr"/>
          <a:lstStyle/>
          <a:p>
            <a:pPr marL="0" indent="0">
              <a:buNone/>
            </a:pPr>
            <a:r>
              <a:rPr lang="en-US" sz="1400" b="1" kern="0" spc="200" dirty="0">
                <a:solidFill>
                  <a:srgbClr val="D97706"/>
                </a:solidFill>
                <a:latin typeface="Calibri" pitchFamily="34" charset="0"/>
                <a:ea typeface="Calibri" pitchFamily="34" charset="-122"/>
                <a:cs typeface="Calibri" pitchFamily="34" charset="-120"/>
              </a:rPr>
              <a:t>KEY TAKEAWAYS</a:t>
            </a:r>
            <a:endParaRPr lang="en-US" sz="1400" dirty="0"/>
          </a:p>
        </p:txBody>
      </p:sp>
      <p:sp>
        <p:nvSpPr>
          <p:cNvPr id="4" name="Text 2"/>
          <p:cNvSpPr/>
          <p:nvPr/>
        </p:nvSpPr>
        <p:spPr>
          <a:xfrm>
            <a:off x="822960" y="1188720"/>
            <a:ext cx="9144000" cy="7315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Things to remember</a:t>
            </a:r>
            <a:endParaRPr lang="en-US" sz="3400" dirty="0"/>
          </a:p>
        </p:txBody>
      </p:sp>
      <p:sp>
        <p:nvSpPr>
          <p:cNvPr id="5" name="Shape 3"/>
          <p:cNvSpPr/>
          <p:nvPr/>
        </p:nvSpPr>
        <p:spPr>
          <a:xfrm>
            <a:off x="822960" y="2194560"/>
            <a:ext cx="10058400" cy="4023360"/>
          </a:xfrm>
          <a:prstGeom prst="rect">
            <a:avLst/>
          </a:prstGeom>
          <a:solidFill>
            <a:srgbClr val="141A45"/>
          </a:solidFill>
          <a:ln/>
        </p:spPr>
        <p:txBody>
          <a:bodyPr/>
          <a:lstStyle/>
          <a:p>
            <a:endParaRPr lang="en-US"/>
          </a:p>
        </p:txBody>
      </p:sp>
      <p:sp>
        <p:nvSpPr>
          <p:cNvPr id="6" name="Shape 4"/>
          <p:cNvSpPr/>
          <p:nvPr/>
        </p:nvSpPr>
        <p:spPr>
          <a:xfrm>
            <a:off x="1051560" y="2377440"/>
            <a:ext cx="9601200" cy="3657600"/>
          </a:xfrm>
          <a:prstGeom prst="rect">
            <a:avLst/>
          </a:prstGeom>
          <a:solidFill>
            <a:srgbClr val="FFFFFF"/>
          </a:solidFill>
          <a:ln w="12700">
            <a:solidFill>
              <a:srgbClr val="8A93A3"/>
            </a:solidFill>
            <a:prstDash val="dash"/>
          </a:ln>
        </p:spPr>
        <p:txBody>
          <a:bodyPr/>
          <a:lstStyle/>
          <a:p>
            <a:endParaRPr lang="en-US"/>
          </a:p>
        </p:txBody>
      </p:sp>
      <p:sp>
        <p:nvSpPr>
          <p:cNvPr id="7" name="Text 5"/>
          <p:cNvSpPr/>
          <p:nvPr/>
        </p:nvSpPr>
        <p:spPr>
          <a:xfrm>
            <a:off x="1188720" y="2468880"/>
            <a:ext cx="9326880" cy="3474720"/>
          </a:xfrm>
          <a:prstGeom prst="rect">
            <a:avLst/>
          </a:prstGeom>
          <a:noFill/>
          <a:ln/>
        </p:spPr>
        <p:txBody>
          <a:bodyPr wrap="square" rtlCol="0" anchor="t"/>
          <a:lstStyle/>
          <a:p>
            <a:r>
              <a:rPr lang="en-US" sz="2000" b="1" dirty="0"/>
              <a:t>Most common entry errors:</a:t>
            </a:r>
            <a:endParaRPr lang="en-US" sz="1200" dirty="0"/>
          </a:p>
          <a:p>
            <a:pPr marL="171450" indent="-171450">
              <a:buFontTx/>
              <a:buChar char="-"/>
            </a:pPr>
            <a:r>
              <a:rPr lang="en-US" sz="1600" dirty="0"/>
              <a:t>Letter O’s, Number 0’s, and Number 8’s can be mixed up easily.</a:t>
            </a:r>
          </a:p>
          <a:p>
            <a:pPr marL="171450" indent="-171450">
              <a:buFontTx/>
              <a:buChar char="-"/>
            </a:pPr>
            <a:r>
              <a:rPr lang="en-US" sz="1600" dirty="0"/>
              <a:t>Texas plates: Parallel 6-vs-G swaps.</a:t>
            </a:r>
          </a:p>
          <a:p>
            <a:pPr marL="171450" indent="-171450">
              <a:buFontTx/>
              <a:buChar char="-"/>
            </a:pPr>
            <a:r>
              <a:rPr lang="en-US" sz="1600" b="1" dirty="0"/>
              <a:t>Vanity Texas Plates: </a:t>
            </a:r>
            <a:r>
              <a:rPr lang="en-US" sz="1600" dirty="0"/>
              <a:t>O’s and Zero’s are hard to determine between. Use context clues to help determine the best choice.</a:t>
            </a:r>
          </a:p>
          <a:p>
            <a:pPr marL="171450" indent="-171450">
              <a:buFontTx/>
              <a:buChar char="-"/>
            </a:pPr>
            <a:r>
              <a:rPr lang="en-US" sz="1600" dirty="0"/>
              <a:t>W &amp; M swapped.</a:t>
            </a:r>
          </a:p>
          <a:p>
            <a:pPr marL="171450" indent="-171450">
              <a:buFontTx/>
              <a:buChar char="-"/>
            </a:pPr>
            <a:r>
              <a:rPr lang="en-US" sz="1600" dirty="0"/>
              <a:t>X &amp; Z swapped.</a:t>
            </a:r>
          </a:p>
          <a:p>
            <a:pPr marL="171450" indent="-171450">
              <a:buFontTx/>
              <a:buChar char="-"/>
            </a:pPr>
            <a:r>
              <a:rPr lang="en-US" sz="1600" dirty="0"/>
              <a:t>B &amp; 8 swapped.</a:t>
            </a:r>
          </a:p>
          <a:p>
            <a:pPr marL="171450" indent="-171450">
              <a:buFontTx/>
              <a:buChar char="-"/>
            </a:pPr>
            <a:r>
              <a:rPr lang="en-US" sz="1600" dirty="0"/>
              <a:t>L &amp; 1 swapped.</a:t>
            </a:r>
          </a:p>
          <a:p>
            <a:pPr marL="171450" indent="-171450">
              <a:buFontTx/>
              <a:buChar char="-"/>
            </a:pPr>
            <a:r>
              <a:rPr lang="en-US" sz="1600" dirty="0"/>
              <a:t>Q’s, C’s, 6’s and G’s swapped.</a:t>
            </a:r>
          </a:p>
          <a:p>
            <a:pPr marL="171450" indent="-171450">
              <a:buFontTx/>
              <a:buChar char="-"/>
            </a:pPr>
            <a:r>
              <a:rPr lang="en-US" sz="1600" dirty="0"/>
              <a:t>Adding extra or missing alphanumeric characters in the registration field.</a:t>
            </a:r>
          </a:p>
          <a:p>
            <a:pPr marL="171450" indent="-171450">
              <a:buFontTx/>
              <a:buChar char="-"/>
            </a:pPr>
            <a:r>
              <a:rPr lang="en-US" sz="1600" dirty="0"/>
              <a:t>Texas: Number 6 &amp; Letter G confusion.</a:t>
            </a:r>
          </a:p>
          <a:p>
            <a:pPr marL="171450" indent="-171450">
              <a:buFontTx/>
              <a:buChar char="-"/>
            </a:pPr>
            <a:r>
              <a:rPr lang="en-US" sz="1600" dirty="0"/>
              <a:t>Plates with the combination "WMR" or "XKW" flagged specifically as needing extra care on entry accuracy (these letter combos trigger the same W/M and X/Z confusion patterns above).</a:t>
            </a:r>
          </a:p>
          <a:p>
            <a:pPr marL="171450" indent="-171450">
              <a:buFontTx/>
              <a:buChar char="-"/>
            </a:pPr>
            <a:endParaRPr lang="en-US" sz="1200" dirty="0"/>
          </a:p>
          <a:p>
            <a:endParaRPr lang="en-US" sz="1200" dirty="0"/>
          </a:p>
          <a:p>
            <a:pPr marL="171450" indent="-171450">
              <a:buFontTx/>
              <a:buChar char="-"/>
            </a:pPr>
            <a:endParaRPr lang="en-US" sz="1200" dirty="0"/>
          </a:p>
          <a:p>
            <a:pPr marL="171450" indent="-171450">
              <a:buFontTx/>
              <a:buChar char="-"/>
            </a:pPr>
            <a:endParaRPr lang="en-US" sz="1200" dirty="0"/>
          </a:p>
        </p:txBody>
      </p:sp>
      <p:sp>
        <p:nvSpPr>
          <p:cNvPr id="8" name="Text 6"/>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A93A3"/>
                </a:solidFill>
                <a:latin typeface="Calibri" pitchFamily="34" charset="0"/>
                <a:ea typeface="Calibri" pitchFamily="34" charset="-122"/>
                <a:cs typeface="Calibri" pitchFamily="34" charset="-120"/>
              </a:rPr>
              <a:t>Vanity Plates Training</a:t>
            </a:r>
            <a:endParaRPr lang="en-US" sz="1000" dirty="0"/>
          </a:p>
        </p:txBody>
      </p:sp>
      <p:sp>
        <p:nvSpPr>
          <p:cNvPr id="9" name="Text 7"/>
          <p:cNvSpPr/>
          <p:nvPr/>
        </p:nvSpPr>
        <p:spPr>
          <a:xfrm>
            <a:off x="11277295" y="6537960"/>
            <a:ext cx="457200" cy="274320"/>
          </a:xfrm>
          <a:prstGeom prst="rect">
            <a:avLst/>
          </a:prstGeom>
          <a:noFill/>
          <a:ln/>
        </p:spPr>
        <p:txBody>
          <a:bodyPr wrap="square" rtlCol="0" anchor="ctr"/>
          <a:lstStyle/>
          <a:p>
            <a:pPr marL="0" indent="0" algn="r">
              <a:buNone/>
            </a:pPr>
            <a:r>
              <a:rPr lang="en-US" sz="1000" dirty="0">
                <a:solidFill>
                  <a:srgbClr val="8A93A3"/>
                </a:solidFill>
                <a:latin typeface="Calibri" pitchFamily="34" charset="0"/>
                <a:ea typeface="Calibri" pitchFamily="34" charset="-122"/>
                <a:cs typeface="Calibri" pitchFamily="34" charset="-120"/>
              </a:rPr>
              <a:t>24</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randombar(horizontal)">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10029</TotalTime>
  <Words>2005</Words>
  <Application>Microsoft Office PowerPoint</Application>
  <PresentationFormat>Widescreen</PresentationFormat>
  <Paragraphs>276</Paragraphs>
  <Slides>23</Slides>
  <Notes>23</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Cambria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Jacob Sasser</cp:lastModifiedBy>
  <cp:revision>25</cp:revision>
  <dcterms:created xsi:type="dcterms:W3CDTF">2026-09-02T13:50:31Z</dcterms:created>
  <dcterms:modified xsi:type="dcterms:W3CDTF">2026-10-15T16:25:17Z</dcterms:modified>
</cp:coreProperties>
</file>